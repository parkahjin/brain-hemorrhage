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8" r:id="rId4"/>
    <p:sldId id="283" r:id="rId5"/>
    <p:sldId id="279" r:id="rId6"/>
    <p:sldId id="306" r:id="rId7"/>
    <p:sldId id="298" r:id="rId8"/>
    <p:sldId id="307" r:id="rId9"/>
    <p:sldId id="285" r:id="rId10"/>
    <p:sldId id="309" r:id="rId11"/>
    <p:sldId id="308" r:id="rId12"/>
    <p:sldId id="300" r:id="rId13"/>
    <p:sldId id="302" r:id="rId14"/>
    <p:sldId id="303" r:id="rId15"/>
    <p:sldId id="311" r:id="rId16"/>
    <p:sldId id="312" r:id="rId17"/>
    <p:sldId id="313" r:id="rId18"/>
    <p:sldId id="305" r:id="rId19"/>
    <p:sldId id="304" r:id="rId20"/>
    <p:sldId id="314" r:id="rId21"/>
    <p:sldId id="290" r:id="rId22"/>
    <p:sldId id="291" r:id="rId23"/>
    <p:sldId id="292" r:id="rId24"/>
    <p:sldId id="315" r:id="rId25"/>
    <p:sldId id="296" r:id="rId26"/>
    <p:sldId id="297" r:id="rId27"/>
  </p:sldIdLst>
  <p:sldSz cx="24384000" cy="13716000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Noto Sans KR ExtraBold" panose="020B0200000000000000" pitchFamily="50" charset="-127"/>
      <p:bold r:id="rId33"/>
    </p:embeddedFont>
    <p:embeddedFont>
      <p:font typeface="Roboto Condensed ExtraBold" panose="02000000000000000000" pitchFamily="2" charset="0"/>
      <p:bold r:id="rId34"/>
      <p:boldItalic r:id="rId35"/>
    </p:embeddedFont>
    <p:embeddedFont>
      <p:font typeface="Roboto ExtraBold" panose="02000000000000000000" pitchFamily="2" charset="0"/>
      <p:bold r:id="rId36"/>
      <p:boldItalic r:id="rId37"/>
    </p:embeddedFont>
    <p:embeddedFont>
      <p:font typeface="맑은 고딕" panose="020B0503020000020004" pitchFamily="50" charset="-127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64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9475"/>
    <a:srgbClr val="F2F7F5"/>
    <a:srgbClr val="333333"/>
    <a:srgbClr val="197A52"/>
    <a:srgbClr val="3AC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22" autoAdjust="0"/>
  </p:normalViewPr>
  <p:slideViewPr>
    <p:cSldViewPr>
      <p:cViewPr varScale="1">
        <p:scale>
          <a:sx n="28" d="100"/>
          <a:sy n="28" d="100"/>
        </p:scale>
        <p:origin x="156" y="1374"/>
      </p:cViewPr>
      <p:guideLst>
        <p:guide orient="horz" pos="2160"/>
        <p:guide pos="6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330A0FD-BA43-463A-8627-5111DFAB04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22A56F-D096-44E5-A67C-839ED0828C1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B0B15-B3E4-41E0-8C00-BEF0642D7BEB}" type="datetimeFigureOut">
              <a:rPr lang="ko-KR" altLang="en-US" smtClean="0"/>
              <a:pPr/>
              <a:t>2025-12-09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A9DD9B05-F63E-4835-8303-73FFA4868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8424DE2D-F82F-4CF7-A77A-AEEEEA446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633244-6E81-4CE0-B506-4A0691CCEC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CA6447-D98E-474B-882A-F38FC1B36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5126F-D2DF-4AB2-9873-1B2FD023CC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0964B-5BD1-4023-8ACA-C652487ABC3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019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644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0964B-5BD1-4023-8ACA-C652487ABC35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542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0964B-5BD1-4023-8ACA-C652487ABC3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757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394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brain-hemorrhage.duckdns.org/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9050000" y="10083800"/>
            <a:ext cx="6321418" cy="275390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4000" b="0" i="0" u="none" strike="noStrike" spc="-15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Claude</a:t>
            </a:r>
            <a:r>
              <a:rPr lang="en-US" altLang="ko-KR" sz="4000" b="0" i="0" u="none" strike="noStrike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000" b="0" i="0" u="none" strike="noStrike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</a:t>
            </a:r>
            <a:endParaRPr lang="en-US" altLang="ko-KR" sz="4000" b="0" i="0" u="none" strike="noStrike" spc="-15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4000" b="0" i="0" u="none" strike="noStrike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팀장</a:t>
            </a:r>
            <a:r>
              <a:rPr lang="en-US" altLang="ko-KR" sz="4000" b="0" i="0" u="none" strike="noStrike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  <a:r>
              <a:rPr lang="ko-KR" altLang="en-US" sz="4000" b="0" i="0" u="none" strike="noStrike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박아진</a:t>
            </a:r>
            <a:endParaRPr lang="en-US" altLang="ko-KR" sz="4000" b="0" i="0" u="none" strike="noStrike" spc="-15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4000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팀원</a:t>
            </a:r>
            <a:r>
              <a:rPr lang="en-US" altLang="ko-KR" sz="4000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  <a:r>
              <a:rPr lang="ko-KR" altLang="en-US" sz="4000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이재혁</a:t>
            </a:r>
            <a:r>
              <a:rPr lang="en-US" altLang="ko-KR" sz="4000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4000" spc="-15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전진원</a:t>
            </a:r>
            <a:endParaRPr lang="en-US" altLang="ko-KR" sz="4000" spc="-15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16199"/>
              </a:lnSpc>
            </a:pPr>
            <a:r>
              <a:rPr lang="ko-KR" altLang="en-US" sz="4000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멘토</a:t>
            </a:r>
            <a:r>
              <a:rPr lang="en-US" altLang="ko-KR" sz="4000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  <a:r>
              <a:rPr lang="ko-KR" altLang="en-US" sz="4000" spc="-15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신형섭</a:t>
            </a:r>
            <a:r>
              <a:rPr lang="ko-KR" altLang="en-US" sz="4000" spc="-15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대표</a:t>
            </a:r>
            <a:endParaRPr lang="en-US" altLang="ko-KR" sz="4000" b="0" i="0" u="none" strike="noStrike" spc="-15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16199"/>
              </a:lnSpc>
            </a:pPr>
            <a:endParaRPr lang="en" sz="4000" b="0" i="0" u="none" strike="noStrike" spc="-15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4495D7-EEDA-4B5D-A596-2D7B60BD8EB4}"/>
              </a:ext>
            </a:extLst>
          </p:cNvPr>
          <p:cNvGrpSpPr/>
          <p:nvPr/>
        </p:nvGrpSpPr>
        <p:grpSpPr>
          <a:xfrm>
            <a:off x="1805781" y="5283200"/>
            <a:ext cx="20772438" cy="3276600"/>
            <a:chOff x="1805781" y="3810000"/>
            <a:chExt cx="20772438" cy="3276600"/>
          </a:xfrm>
        </p:grpSpPr>
        <p:sp>
          <p:nvSpPr>
            <p:cNvPr id="5" name="TextBox 5"/>
            <p:cNvSpPr txBox="1"/>
            <p:nvPr/>
          </p:nvSpPr>
          <p:spPr>
            <a:xfrm>
              <a:off x="1805781" y="5740400"/>
              <a:ext cx="20772438" cy="13462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5000" b="0" i="0" u="none" strike="noStrike" spc="-150" dirty="0">
                  <a:solidFill>
                    <a:srgbClr val="197A52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CNN</a:t>
              </a:r>
              <a:r>
                <a:rPr lang="ko-KR" altLang="en-US" sz="5000" b="0" i="0" u="none" strike="noStrike" spc="-150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과 </a:t>
              </a:r>
              <a:r>
                <a:rPr lang="en-US" altLang="ko-KR" sz="5000" b="0" i="0" u="none" strike="noStrike" spc="-150" dirty="0" err="1">
                  <a:solidFill>
                    <a:srgbClr val="197A52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ResNet</a:t>
              </a:r>
              <a:r>
                <a:rPr lang="en-US" altLang="ko-KR" sz="5000" b="0" i="0" u="none" strike="noStrike" spc="-150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 </a:t>
              </a:r>
              <a:r>
                <a:rPr lang="ko-KR" altLang="en-US" sz="5000" b="0" i="0" u="none" strike="noStrike" spc="-150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기반 뇌출혈 예측 모델 비교 연구</a:t>
              </a:r>
              <a:endParaRPr lang="ko-KR" sz="5000" b="0" i="0" u="none" strike="noStrike" spc="-150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95800" y="3810000"/>
              <a:ext cx="15392400" cy="1979206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1000" spc="-300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뇌출혈 조기 진단 프로젝트</a:t>
              </a:r>
              <a:endParaRPr lang="en" sz="11000" b="0" i="0" u="none" strike="noStrike" spc="-300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2D54AB1-7E84-40A0-95B6-FDB4EE2BA4ED}"/>
              </a:ext>
            </a:extLst>
          </p:cNvPr>
          <p:cNvSpPr txBox="1"/>
          <p:nvPr/>
        </p:nvSpPr>
        <p:spPr>
          <a:xfrm>
            <a:off x="9677400" y="4114800"/>
            <a:ext cx="10744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양정인력개발센터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5809B81-9D86-45C9-8DD2-4086D38935D2}"/>
              </a:ext>
            </a:extLst>
          </p:cNvPr>
          <p:cNvGrpSpPr/>
          <p:nvPr/>
        </p:nvGrpSpPr>
        <p:grpSpPr>
          <a:xfrm>
            <a:off x="12153900" y="2002612"/>
            <a:ext cx="13652025" cy="762000"/>
            <a:chOff x="838200" y="3352800"/>
            <a:chExt cx="13652025" cy="762000"/>
          </a:xfrm>
        </p:grpSpPr>
        <p:sp>
          <p:nvSpPr>
            <p:cNvPr id="24" name="TextBox 24"/>
            <p:cNvSpPr txBox="1"/>
            <p:nvPr/>
          </p:nvSpPr>
          <p:spPr>
            <a:xfrm>
              <a:off x="2667000" y="3390900"/>
              <a:ext cx="11823225" cy="685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프로젝트 개요</a:t>
              </a:r>
              <a:endParaRPr lang="en" sz="7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8200" y="3352800"/>
              <a:ext cx="2133600" cy="762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01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2893B01-F6BD-4817-8288-1DA827610C41}"/>
              </a:ext>
            </a:extLst>
          </p:cNvPr>
          <p:cNvGrpSpPr/>
          <p:nvPr/>
        </p:nvGrpSpPr>
        <p:grpSpPr>
          <a:xfrm>
            <a:off x="12153900" y="9258331"/>
            <a:ext cx="14331259" cy="762000"/>
            <a:chOff x="15241957" y="3314700"/>
            <a:chExt cx="14331259" cy="762000"/>
          </a:xfrm>
        </p:grpSpPr>
        <p:sp>
          <p:nvSpPr>
            <p:cNvPr id="27" name="TextBox 27"/>
            <p:cNvSpPr txBox="1"/>
            <p:nvPr/>
          </p:nvSpPr>
          <p:spPr>
            <a:xfrm>
              <a:off x="17070757" y="3352800"/>
              <a:ext cx="12502459" cy="685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프로젝트 수행 결과</a:t>
              </a:r>
              <a:endParaRPr lang="en" altLang="ko-KR" sz="7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241957" y="3314700"/>
              <a:ext cx="2133600" cy="762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04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676400" y="1066800"/>
            <a:ext cx="2895600" cy="173355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0000" b="0" i="0" u="none" strike="noStrike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목차</a:t>
            </a:r>
            <a:endParaRPr lang="ko-KR" sz="10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6A405FF-B03F-485B-8592-54DCCE686195}"/>
              </a:ext>
            </a:extLst>
          </p:cNvPr>
          <p:cNvGrpSpPr/>
          <p:nvPr/>
        </p:nvGrpSpPr>
        <p:grpSpPr>
          <a:xfrm>
            <a:off x="12153900" y="6839758"/>
            <a:ext cx="19405759" cy="762000"/>
            <a:chOff x="13665041" y="3340409"/>
            <a:chExt cx="19405759" cy="762000"/>
          </a:xfrm>
        </p:grpSpPr>
        <p:sp>
          <p:nvSpPr>
            <p:cNvPr id="30" name="TextBox 30"/>
            <p:cNvSpPr txBox="1"/>
            <p:nvPr/>
          </p:nvSpPr>
          <p:spPr>
            <a:xfrm>
              <a:off x="13665041" y="3340409"/>
              <a:ext cx="2133600" cy="762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493841" y="3378509"/>
              <a:ext cx="17576959" cy="685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프로젝트 수행 절차 및 방법</a:t>
              </a:r>
              <a:endParaRPr lang="en" altLang="ko-KR" sz="7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B74CA86-EA3E-4B01-9C53-622DDA9ED13B}"/>
              </a:ext>
            </a:extLst>
          </p:cNvPr>
          <p:cNvGrpSpPr/>
          <p:nvPr/>
        </p:nvGrpSpPr>
        <p:grpSpPr>
          <a:xfrm>
            <a:off x="12153900" y="11676904"/>
            <a:ext cx="13055601" cy="762000"/>
            <a:chOff x="13792042" y="9651692"/>
            <a:chExt cx="13055601" cy="762000"/>
          </a:xfrm>
        </p:grpSpPr>
        <p:sp>
          <p:nvSpPr>
            <p:cNvPr id="28" name="TextBox 28"/>
            <p:cNvSpPr txBox="1"/>
            <p:nvPr/>
          </p:nvSpPr>
          <p:spPr>
            <a:xfrm>
              <a:off x="15620842" y="9689792"/>
              <a:ext cx="11226801" cy="685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자체 평가</a:t>
              </a:r>
              <a:endParaRPr lang="ko-KR" sz="7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792042" y="9651692"/>
              <a:ext cx="2133600" cy="762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05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A96DC9A-B912-4F35-9552-825636C02B79}"/>
              </a:ext>
            </a:extLst>
          </p:cNvPr>
          <p:cNvGrpSpPr/>
          <p:nvPr/>
        </p:nvGrpSpPr>
        <p:grpSpPr>
          <a:xfrm>
            <a:off x="0" y="3505199"/>
            <a:ext cx="11862893" cy="10241691"/>
            <a:chOff x="0" y="3466072"/>
            <a:chExt cx="12559201" cy="10249928"/>
          </a:xfrm>
        </p:grpSpPr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ABA024C7-086F-4EC3-A2A9-AC3050691C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/>
            <a:srcRect l="6256" b="26214"/>
            <a:stretch/>
          </p:blipFill>
          <p:spPr>
            <a:xfrm>
              <a:off x="0" y="3466072"/>
              <a:ext cx="12559201" cy="10249928"/>
            </a:xfrm>
            <a:prstGeom prst="rect">
              <a:avLst/>
            </a:prstGeom>
          </p:spPr>
        </p:pic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35013F50-2181-4CFE-9B7F-96A897B3F304}"/>
                </a:ext>
              </a:extLst>
            </p:cNvPr>
            <p:cNvGrpSpPr/>
            <p:nvPr/>
          </p:nvGrpSpPr>
          <p:grpSpPr>
            <a:xfrm>
              <a:off x="1867304" y="7839135"/>
              <a:ext cx="6788016" cy="5458491"/>
              <a:chOff x="16965248" y="4126051"/>
              <a:chExt cx="7155349" cy="5753877"/>
            </a:xfrm>
          </p:grpSpPr>
          <p:pic>
            <p:nvPicPr>
              <p:cNvPr id="43" name="Picture 7">
                <a:extLst>
                  <a:ext uri="{FF2B5EF4-FFF2-40B4-BE49-F238E27FC236}">
                    <a16:creationId xmlns:a16="http://schemas.microsoft.com/office/drawing/2014/main" id="{2A0B81FC-F9C3-428E-A73B-AE3BDC0884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44" name="TextBox 8">
                <a:extLst>
                  <a:ext uri="{FF2B5EF4-FFF2-40B4-BE49-F238E27FC236}">
                    <a16:creationId xmlns:a16="http://schemas.microsoft.com/office/drawing/2014/main" id="{F76E1542-B1DA-4C11-A893-CBF2F8935D59}"/>
                  </a:ext>
                </a:extLst>
              </p:cNvPr>
              <p:cNvSpPr txBox="1"/>
              <p:nvPr/>
            </p:nvSpPr>
            <p:spPr>
              <a:xfrm>
                <a:off x="16965248" y="9030054"/>
                <a:ext cx="52059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45" name="TextBox 9">
                <a:extLst>
                  <a:ext uri="{FF2B5EF4-FFF2-40B4-BE49-F238E27FC236}">
                    <a16:creationId xmlns:a16="http://schemas.microsoft.com/office/drawing/2014/main" id="{21C58504-062A-4EF7-B3B2-825CA8D9343E}"/>
                  </a:ext>
                </a:extLst>
              </p:cNvPr>
              <p:cNvSpPr txBox="1"/>
              <p:nvPr/>
            </p:nvSpPr>
            <p:spPr>
              <a:xfrm>
                <a:off x="16965248" y="8053847"/>
                <a:ext cx="52059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46" name="TextBox 10">
                <a:extLst>
                  <a:ext uri="{FF2B5EF4-FFF2-40B4-BE49-F238E27FC236}">
                    <a16:creationId xmlns:a16="http://schemas.microsoft.com/office/drawing/2014/main" id="{B5F2498A-819B-4812-95AD-B74760FBB63A}"/>
                  </a:ext>
                </a:extLst>
              </p:cNvPr>
              <p:cNvSpPr txBox="1"/>
              <p:nvPr/>
            </p:nvSpPr>
            <p:spPr>
              <a:xfrm>
                <a:off x="16965248" y="7066155"/>
                <a:ext cx="52059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</p:txBody>
          </p:sp>
          <p:sp>
            <p:nvSpPr>
              <p:cNvPr id="47" name="TextBox 11">
                <a:extLst>
                  <a:ext uri="{FF2B5EF4-FFF2-40B4-BE49-F238E27FC236}">
                    <a16:creationId xmlns:a16="http://schemas.microsoft.com/office/drawing/2014/main" id="{DD1CF011-5052-4CD3-805D-3ACF9D085664}"/>
                  </a:ext>
                </a:extLst>
              </p:cNvPr>
              <p:cNvSpPr txBox="1"/>
              <p:nvPr/>
            </p:nvSpPr>
            <p:spPr>
              <a:xfrm>
                <a:off x="16965248" y="6089949"/>
                <a:ext cx="52059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48" name="TextBox 12">
                <a:extLst>
                  <a:ext uri="{FF2B5EF4-FFF2-40B4-BE49-F238E27FC236}">
                    <a16:creationId xmlns:a16="http://schemas.microsoft.com/office/drawing/2014/main" id="{F5BACF8C-1AAC-42BD-AFBE-3E99AEB5160B}"/>
                  </a:ext>
                </a:extLst>
              </p:cNvPr>
              <p:cNvSpPr txBox="1"/>
              <p:nvPr/>
            </p:nvSpPr>
            <p:spPr>
              <a:xfrm>
                <a:off x="16965248" y="5113742"/>
                <a:ext cx="52059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49" name="TextBox 13">
                <a:extLst>
                  <a:ext uri="{FF2B5EF4-FFF2-40B4-BE49-F238E27FC236}">
                    <a16:creationId xmlns:a16="http://schemas.microsoft.com/office/drawing/2014/main" id="{385EBFFB-BC38-4A7E-BC61-BEE403B9A13A}"/>
                  </a:ext>
                </a:extLst>
              </p:cNvPr>
              <p:cNvSpPr txBox="1"/>
              <p:nvPr/>
            </p:nvSpPr>
            <p:spPr>
              <a:xfrm>
                <a:off x="16965248" y="4126051"/>
                <a:ext cx="52059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50" name="Picture 14">
                <a:extLst>
                  <a:ext uri="{FF2B5EF4-FFF2-40B4-BE49-F238E27FC236}">
                    <a16:creationId xmlns:a16="http://schemas.microsoft.com/office/drawing/2014/main" id="{4882E7CB-77B9-4D5B-BE0D-A37726BF3B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51" name="Picture 15">
                <a:extLst>
                  <a:ext uri="{FF2B5EF4-FFF2-40B4-BE49-F238E27FC236}">
                    <a16:creationId xmlns:a16="http://schemas.microsoft.com/office/drawing/2014/main" id="{2DAABD82-F792-46B7-87A5-E839F4DD0D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52" name="Picture 16">
                <a:extLst>
                  <a:ext uri="{FF2B5EF4-FFF2-40B4-BE49-F238E27FC236}">
                    <a16:creationId xmlns:a16="http://schemas.microsoft.com/office/drawing/2014/main" id="{6B91FA69-E7E7-4345-AF79-70005105F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53" name="Picture 17">
                <a:extLst>
                  <a:ext uri="{FF2B5EF4-FFF2-40B4-BE49-F238E27FC236}">
                    <a16:creationId xmlns:a16="http://schemas.microsoft.com/office/drawing/2014/main" id="{B7489F1C-6C1B-4EE1-BED6-573A0E968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54" name="TextBox 18">
                <a:extLst>
                  <a:ext uri="{FF2B5EF4-FFF2-40B4-BE49-F238E27FC236}">
                    <a16:creationId xmlns:a16="http://schemas.microsoft.com/office/drawing/2014/main" id="{8BC5E475-500E-42D8-B924-0984C133879F}"/>
                  </a:ext>
                </a:extLst>
              </p:cNvPr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55" name="TextBox 19">
                <a:extLst>
                  <a:ext uri="{FF2B5EF4-FFF2-40B4-BE49-F238E27FC236}">
                    <a16:creationId xmlns:a16="http://schemas.microsoft.com/office/drawing/2014/main" id="{BB49F2D0-2FD1-4250-B508-F82A4B6D0120}"/>
                  </a:ext>
                </a:extLst>
              </p:cNvPr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56" name="TextBox 20">
                <a:extLst>
                  <a:ext uri="{FF2B5EF4-FFF2-40B4-BE49-F238E27FC236}">
                    <a16:creationId xmlns:a16="http://schemas.microsoft.com/office/drawing/2014/main" id="{61B238EB-D104-48DB-9B45-04193089FC74}"/>
                  </a:ext>
                </a:extLst>
              </p:cNvPr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57" name="TextBox 21">
                <a:extLst>
                  <a:ext uri="{FF2B5EF4-FFF2-40B4-BE49-F238E27FC236}">
                    <a16:creationId xmlns:a16="http://schemas.microsoft.com/office/drawing/2014/main" id="{493923C7-C941-4FB7-8BBF-275F9550B2BF}"/>
                  </a:ext>
                </a:extLst>
              </p:cNvPr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B99B950-062B-43EF-A6A5-54C5F96918AD}"/>
              </a:ext>
            </a:extLst>
          </p:cNvPr>
          <p:cNvGrpSpPr/>
          <p:nvPr/>
        </p:nvGrpSpPr>
        <p:grpSpPr>
          <a:xfrm>
            <a:off x="12153900" y="4421185"/>
            <a:ext cx="13652025" cy="762000"/>
            <a:chOff x="838200" y="3352800"/>
            <a:chExt cx="13652025" cy="762000"/>
          </a:xfrm>
        </p:grpSpPr>
        <p:sp>
          <p:nvSpPr>
            <p:cNvPr id="36" name="TextBox 24">
              <a:extLst>
                <a:ext uri="{FF2B5EF4-FFF2-40B4-BE49-F238E27FC236}">
                  <a16:creationId xmlns:a16="http://schemas.microsoft.com/office/drawing/2014/main" id="{0EF12673-53FD-40FB-96DE-B0C954C17903}"/>
                </a:ext>
              </a:extLst>
            </p:cNvPr>
            <p:cNvSpPr txBox="1"/>
            <p:nvPr/>
          </p:nvSpPr>
          <p:spPr>
            <a:xfrm>
              <a:off x="2667000" y="3390900"/>
              <a:ext cx="11823225" cy="6858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프로젝트 팀 구성 및 역할</a:t>
              </a:r>
              <a:endParaRPr lang="en" sz="7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  <p:sp>
          <p:nvSpPr>
            <p:cNvPr id="38" name="TextBox 29">
              <a:extLst>
                <a:ext uri="{FF2B5EF4-FFF2-40B4-BE49-F238E27FC236}">
                  <a16:creationId xmlns:a16="http://schemas.microsoft.com/office/drawing/2014/main" id="{07933F27-61E6-41A7-BB4A-E9D8D8E89C4E}"/>
                </a:ext>
              </a:extLst>
            </p:cNvPr>
            <p:cNvSpPr txBox="1"/>
            <p:nvPr/>
          </p:nvSpPr>
          <p:spPr>
            <a:xfrm>
              <a:off x="838200" y="3352800"/>
              <a:ext cx="2133600" cy="7620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" sz="7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5">
            <a:extLst>
              <a:ext uri="{FF2B5EF4-FFF2-40B4-BE49-F238E27FC236}">
                <a16:creationId xmlns:a16="http://schemas.microsoft.com/office/drawing/2014/main" id="{F2B066C9-851E-49A5-9390-E0228D361D0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608167" y="3045828"/>
            <a:ext cx="10745536" cy="95081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5">
            <a:extLst>
              <a:ext uri="{FF2B5EF4-FFF2-40B4-BE49-F238E27FC236}">
                <a16:creationId xmlns:a16="http://schemas.microsoft.com/office/drawing/2014/main" id="{CDA531A8-65E6-434F-8F09-F8BA2A3AD84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0297" y="3022382"/>
            <a:ext cx="11028947" cy="95081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6"/>
          <p:cNvSpPr txBox="1"/>
          <p:nvPr/>
        </p:nvSpPr>
        <p:spPr>
          <a:xfrm>
            <a:off x="5321152" y="3967305"/>
            <a:ext cx="3358148" cy="596900"/>
          </a:xfrm>
          <a:prstGeom prst="rect">
            <a:avLst/>
          </a:prstGeom>
        </p:spPr>
        <p:txBody>
          <a:bodyPr lIns="0" tIns="42333" rIns="0" bIns="423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선정 배경</a:t>
            </a:r>
            <a:endParaRPr lang="ko-KR" sz="5000" b="0" i="0" u="none" strike="noStrike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926649" y="4742742"/>
            <a:ext cx="10440070" cy="4271778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marL="514350" lvl="0" indent="-514350" algn="l">
              <a:lnSpc>
                <a:spcPct val="150000"/>
              </a:lnSpc>
              <a:buAutoNum type="arabicPeriod"/>
            </a:pPr>
            <a:r>
              <a:rPr lang="ko-KR" altLang="en-US" sz="40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의료 데이터 판독 보조 시스템 필요</a:t>
            </a:r>
            <a:endParaRPr lang="en-US" altLang="ko-KR" sz="4000" b="0" i="0" u="none" strike="noStrike" spc="-5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의료 데이터 판독에는 </a:t>
            </a:r>
            <a:r>
              <a:rPr lang="ko-KR" altLang="en-US" sz="3300" b="0" i="0" u="none" strike="noStrike" spc="-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전문 인력의 경험과 시간</a:t>
            </a:r>
            <a:r>
              <a:rPr lang="ko-KR" altLang="en-US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소요</a:t>
            </a:r>
            <a:endParaRPr lang="en-US" altLang="ko-KR" sz="3300" b="0" i="0" u="none" strike="noStrike" spc="-53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sz="33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   →  </a:t>
            </a:r>
            <a:r>
              <a:rPr lang="ko-KR" altLang="en-US" sz="3300" spc="-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전문의 부족 문제 초래</a:t>
            </a:r>
            <a:endParaRPr lang="en-US" altLang="ko-KR" sz="3300" spc="-53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0000"/>
              </a:lnSpc>
            </a:pPr>
            <a:endParaRPr lang="en-US" sz="3300" b="0" i="0" u="none" strike="noStrike" spc="-5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FC1D3718-EC61-4C3B-A9B4-CEE731E93BE7}"/>
              </a:ext>
            </a:extLst>
          </p:cNvPr>
          <p:cNvSpPr txBox="1"/>
          <p:nvPr/>
        </p:nvSpPr>
        <p:spPr>
          <a:xfrm>
            <a:off x="1320800" y="1162050"/>
            <a:ext cx="196342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1. </a:t>
            </a:r>
            <a:r>
              <a:rPr lang="ko-KR" altLang="en-US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개요 </a:t>
            </a:r>
            <a:r>
              <a:rPr lang="en-US" altLang="ko-KR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– </a:t>
            </a:r>
            <a:r>
              <a:rPr lang="ko-KR" altLang="en-US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선정 배경 및 기획 의도 </a:t>
            </a:r>
            <a:endParaRPr lang="ko-KR" sz="7000" b="0" i="0" u="none" strike="noStrike" spc="-13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4C0DF3-9397-4903-B129-A1A32267D1BC}"/>
              </a:ext>
            </a:extLst>
          </p:cNvPr>
          <p:cNvSpPr txBox="1"/>
          <p:nvPr/>
        </p:nvSpPr>
        <p:spPr>
          <a:xfrm>
            <a:off x="1926648" y="8529296"/>
            <a:ext cx="9143999" cy="2449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en-US" altLang="ko-KR" sz="40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2. </a:t>
            </a:r>
            <a:r>
              <a:rPr lang="ko-KR" altLang="en-US" sz="40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초고령화 사회를 대비한 시스템 구축 필요</a:t>
            </a:r>
            <a:endParaRPr lang="en-US" altLang="ko-KR" sz="4000" spc="-5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노인 비율이 증가 함에 따라 전문의도 많이 필요함</a:t>
            </a:r>
            <a:endParaRPr lang="en-US" altLang="ko-KR" sz="3300" b="0" i="0" u="none" strike="noStrike" spc="-5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3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 → </a:t>
            </a:r>
            <a:r>
              <a:rPr lang="ko-KR" altLang="en-US" sz="3300" spc="-53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딥러닝을</a:t>
            </a:r>
            <a:r>
              <a:rPr lang="ko-KR" altLang="en-US" sz="33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활용한 </a:t>
            </a:r>
            <a:r>
              <a:rPr lang="ko-KR" altLang="en-US" sz="3300" spc="-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전문의 보조 시스템 </a:t>
            </a:r>
            <a:r>
              <a:rPr lang="ko-KR" altLang="en-US" sz="3300" spc="-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개발</a:t>
            </a:r>
            <a:endParaRPr lang="en-US" altLang="ko-KR" sz="3300" spc="-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FA71F840-8686-4D02-86D6-6561D89F1245}"/>
              </a:ext>
            </a:extLst>
          </p:cNvPr>
          <p:cNvSpPr txBox="1"/>
          <p:nvPr/>
        </p:nvSpPr>
        <p:spPr>
          <a:xfrm>
            <a:off x="16782454" y="3967305"/>
            <a:ext cx="3358148" cy="596900"/>
          </a:xfrm>
          <a:prstGeom prst="rect">
            <a:avLst/>
          </a:prstGeom>
        </p:spPr>
        <p:txBody>
          <a:bodyPr lIns="0" tIns="42333" rIns="0" bIns="423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기획 의도</a:t>
            </a:r>
            <a:endParaRPr lang="ko-KR" sz="5000" b="0" i="0" u="none" strike="noStrike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48EAD795-6DBA-47C4-819F-F881FBC3BCE7}"/>
              </a:ext>
            </a:extLst>
          </p:cNvPr>
          <p:cNvSpPr txBox="1"/>
          <p:nvPr/>
        </p:nvSpPr>
        <p:spPr>
          <a:xfrm>
            <a:off x="13900892" y="4391682"/>
            <a:ext cx="9906000" cy="4271778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ko-KR" altLang="en-US" sz="40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전문의 보조 시스템 구축  </a:t>
            </a:r>
            <a:endParaRPr lang="en-US" altLang="ko-KR" sz="4000" b="0" i="0" u="none" strike="noStrike" spc="-5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</a:t>
            </a:r>
            <a:r>
              <a:rPr lang="en-US" altLang="ko-KR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ko-KR" altLang="en-US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전문의 부족 문제 해소에 기여</a:t>
            </a:r>
            <a:endParaRPr lang="en-US" altLang="ko-KR" sz="3300" b="0" i="0" u="none" strike="noStrike" spc="-5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3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33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의료진 업무 효율성 향상</a:t>
            </a:r>
            <a:endParaRPr lang="en-US" altLang="ko-KR" sz="3300" spc="-5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A969D4-7C96-438B-96AA-A533BFAE45B2}"/>
              </a:ext>
            </a:extLst>
          </p:cNvPr>
          <p:cNvSpPr txBox="1"/>
          <p:nvPr/>
        </p:nvSpPr>
        <p:spPr>
          <a:xfrm>
            <a:off x="13900892" y="8570327"/>
            <a:ext cx="9121272" cy="2449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en-US" altLang="ko-KR" sz="40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2. </a:t>
            </a:r>
            <a:r>
              <a:rPr lang="ko-KR" altLang="en-US" sz="40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환자의 </a:t>
            </a:r>
            <a:r>
              <a:rPr lang="ko-KR" altLang="en-US" sz="4000" spc="-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골든 타임 확보</a:t>
            </a:r>
            <a:endParaRPr lang="en-US" altLang="ko-KR" sz="4000" spc="-53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전문의를 보조하여 의료 데이터의 </a:t>
            </a:r>
            <a:endParaRPr lang="en-US" altLang="ko-KR" sz="3300" b="0" i="0" u="none" strike="noStrike" spc="-5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33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</a:t>
            </a:r>
            <a:r>
              <a:rPr lang="ko-KR" altLang="en-US" sz="3300" b="0" i="0" u="none" strike="noStrike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판독 시간을 단축</a:t>
            </a:r>
            <a:r>
              <a:rPr lang="en-US" altLang="ko-KR" sz="33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→ </a:t>
            </a:r>
            <a:r>
              <a:rPr lang="ko-KR" altLang="en-US" sz="33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환자의 </a:t>
            </a:r>
            <a:r>
              <a:rPr lang="ko-KR" altLang="en-US" sz="3300" spc="-53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생존률</a:t>
            </a:r>
            <a:r>
              <a:rPr lang="ko-KR" altLang="en-US" sz="3300" spc="-5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상승</a:t>
            </a:r>
            <a:endParaRPr lang="en-US" altLang="ko-KR" sz="3300" b="0" i="0" u="none" strike="noStrike" spc="-5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728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14">
            <a:extLst>
              <a:ext uri="{FF2B5EF4-FFF2-40B4-BE49-F238E27FC236}">
                <a16:creationId xmlns:a16="http://schemas.microsoft.com/office/drawing/2014/main" id="{9C4B581D-6C86-4244-960E-FAACE290AFEF}"/>
              </a:ext>
            </a:extLst>
          </p:cNvPr>
          <p:cNvSpPr txBox="1"/>
          <p:nvPr/>
        </p:nvSpPr>
        <p:spPr>
          <a:xfrm>
            <a:off x="1320800" y="1162050"/>
            <a:ext cx="15062200" cy="121166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1. </a:t>
            </a:r>
            <a:r>
              <a:rPr lang="ko-KR" altLang="en-US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개요 </a:t>
            </a:r>
            <a:r>
              <a:rPr lang="en-US" altLang="ko-KR" sz="7000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</a:t>
            </a:r>
            <a:r>
              <a:rPr lang="en-US" altLang="ko-KR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</a:t>
            </a:r>
            <a:r>
              <a:rPr lang="ko-KR" altLang="en-US" sz="7000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구조</a:t>
            </a:r>
            <a:endParaRPr lang="ko-KR" sz="7000" b="0" i="0" u="none" strike="noStrike" spc="-13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5FA976E-D393-48CD-B6AC-55633C1E0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016767"/>
              </p:ext>
            </p:extLst>
          </p:nvPr>
        </p:nvGraphicFramePr>
        <p:xfrm>
          <a:off x="1979613" y="2831020"/>
          <a:ext cx="20424774" cy="10058401"/>
        </p:xfrm>
        <a:graphic>
          <a:graphicData uri="http://schemas.openxmlformats.org/drawingml/2006/table">
            <a:tbl>
              <a:tblPr/>
              <a:tblGrid>
                <a:gridCol w="4421187">
                  <a:extLst>
                    <a:ext uri="{9D8B030D-6E8A-4147-A177-3AD203B41FA5}">
                      <a16:colId xmlns:a16="http://schemas.microsoft.com/office/drawing/2014/main" val="3875003658"/>
                    </a:ext>
                  </a:extLst>
                </a:gridCol>
                <a:gridCol w="2804325">
                  <a:extLst>
                    <a:ext uri="{9D8B030D-6E8A-4147-A177-3AD203B41FA5}">
                      <a16:colId xmlns:a16="http://schemas.microsoft.com/office/drawing/2014/main" val="2688183061"/>
                    </a:ext>
                  </a:extLst>
                </a:gridCol>
                <a:gridCol w="8551636">
                  <a:extLst>
                    <a:ext uri="{9D8B030D-6E8A-4147-A177-3AD203B41FA5}">
                      <a16:colId xmlns:a16="http://schemas.microsoft.com/office/drawing/2014/main" val="1381236573"/>
                    </a:ext>
                  </a:extLst>
                </a:gridCol>
                <a:gridCol w="4647626">
                  <a:extLst>
                    <a:ext uri="{9D8B030D-6E8A-4147-A177-3AD203B41FA5}">
                      <a16:colId xmlns:a16="http://schemas.microsoft.com/office/drawing/2014/main" val="3296555595"/>
                    </a:ext>
                  </a:extLst>
                </a:gridCol>
              </a:tblGrid>
              <a:tr h="146049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500" b="1" i="0" u="none" strike="noStrike" dirty="0">
                          <a:solidFill>
                            <a:schemeClr val="bg2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구분</a:t>
                      </a:r>
                      <a:endParaRPr lang="en-US" sz="3500" b="1" dirty="0">
                        <a:solidFill>
                          <a:schemeClr val="bg2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i="0" u="none" strike="noStrike" dirty="0">
                          <a:solidFill>
                            <a:schemeClr val="bg2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500" b="1" dirty="0">
                        <a:solidFill>
                          <a:schemeClr val="bg2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500" b="1" i="0" u="none" strike="noStrike" dirty="0">
                          <a:solidFill>
                            <a:schemeClr val="bg2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활동</a:t>
                      </a:r>
                      <a:endParaRPr lang="en-US" sz="3500" b="1" dirty="0">
                        <a:solidFill>
                          <a:schemeClr val="bg2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500" b="1" i="0" u="none" strike="noStrike" dirty="0">
                          <a:solidFill>
                            <a:schemeClr val="bg2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비고</a:t>
                      </a:r>
                      <a:endParaRPr lang="en-US" sz="3500" b="1" dirty="0">
                        <a:solidFill>
                          <a:schemeClr val="bg2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863308"/>
                  </a:ext>
                </a:extLst>
              </a:tr>
              <a:tr h="140651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사전</a:t>
                      </a: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기획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1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프로젝트</a:t>
                      </a: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기획</a:t>
                      </a: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및</a:t>
                      </a: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팀 역할 분담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초기 회의</a:t>
                      </a:r>
                      <a:r>
                        <a:rPr lang="en-US" alt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자료 조사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647618"/>
                  </a:ext>
                </a:extLst>
              </a:tr>
              <a:tr h="144146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데이터</a:t>
                      </a: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준비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2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뇌 </a:t>
                      </a:r>
                      <a:r>
                        <a:rPr lang="en-US" altLang="ko-KR" sz="3500" b="1" i="0" u="none" strike="noStrike" dirty="0">
                          <a:solidFill>
                            <a:schemeClr val="tx1"/>
                          </a:solidFill>
                          <a:latin typeface="Roboto ExtraBold" panose="02000000000000000000" pitchFamily="2" charset="0"/>
                          <a:ea typeface="Roboto ExtraBold" panose="02000000000000000000" pitchFamily="2" charset="0"/>
                        </a:rPr>
                        <a:t>CT</a:t>
                      </a:r>
                      <a:r>
                        <a:rPr lang="en-US" alt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데이터셋 수집 및 </a:t>
                      </a:r>
                      <a:r>
                        <a:rPr lang="ko-KR" altLang="en-US" sz="3500" b="1" i="0" u="none" strike="noStrike" dirty="0" err="1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전처리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i="0" u="none" strike="noStrike" dirty="0" err="1">
                          <a:solidFill>
                            <a:schemeClr val="tx1"/>
                          </a:solidFill>
                          <a:latin typeface="Roboto ExtraBold" panose="02000000000000000000" pitchFamily="2" charset="0"/>
                          <a:ea typeface="Roboto ExtraBold" panose="02000000000000000000" pitchFamily="2" charset="0"/>
                        </a:rPr>
                        <a:t>kaggle</a:t>
                      </a: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데이터</a:t>
                      </a: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참조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63231"/>
                  </a:ext>
                </a:extLst>
              </a:tr>
              <a:tr h="146049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모델 개발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3 ~ 4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모델 구현</a:t>
                      </a:r>
                      <a:r>
                        <a:rPr lang="en-US" alt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학습</a:t>
                      </a:r>
                      <a:r>
                        <a:rPr lang="en-US" alt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모델 성능 비교 분석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모델 비교 및</a:t>
                      </a:r>
                      <a:endParaRPr lang="en-US" altLang="ko-KR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최적의 모델 선정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761112"/>
                  </a:ext>
                </a:extLst>
              </a:tr>
              <a:tr h="140651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dirty="0" err="1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Noto Sans KR ExtraBold" panose="020B0200000000000000" pitchFamily="50" charset="-127"/>
                        </a:rPr>
                        <a:t>백엔드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API 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개발 및</a:t>
                      </a:r>
                      <a:endParaRPr lang="en-US" altLang="ko-KR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DB</a:t>
                      </a:r>
                      <a:r>
                        <a:rPr 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구축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4 ~ 5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dirty="0" err="1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SpringBoot</a:t>
                      </a:r>
                      <a:r>
                        <a:rPr 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 Rest 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API 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개발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MySQL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DB 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설계 및 연동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Spring Security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 + JWT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적용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801027"/>
                  </a:ext>
                </a:extLst>
              </a:tr>
              <a:tr h="144146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서비스 구현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5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i="0" u="none" strike="noStrike" dirty="0" err="1">
                          <a:solidFill>
                            <a:schemeClr val="tx1"/>
                          </a:solidFill>
                          <a:latin typeface="Roboto ExtraBold" panose="02000000000000000000" pitchFamily="2" charset="0"/>
                          <a:ea typeface="Roboto ExtraBold" panose="02000000000000000000" pitchFamily="2" charset="0"/>
                        </a:rPr>
                        <a:t>Streamlit</a:t>
                      </a: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대시보드 제작</a:t>
                      </a:r>
                      <a:r>
                        <a:rPr lang="en-US" alt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500" b="1" i="0" u="none" strike="noStrike" dirty="0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AWS </a:t>
                      </a:r>
                      <a:r>
                        <a:rPr lang="en-US" altLang="ko-KR" sz="3500" b="1" i="0" u="none" strike="noStrike" dirty="0" err="1">
                          <a:solidFill>
                            <a:schemeClr val="tx1"/>
                          </a:solidFill>
                          <a:latin typeface="Roboto Condensed ExtraBold" panose="02000000000000000000" pitchFamily="2" charset="0"/>
                          <a:ea typeface="Roboto Condensed ExtraBold" panose="02000000000000000000" pitchFamily="2" charset="0"/>
                        </a:rPr>
                        <a:t>Lightsail</a:t>
                      </a:r>
                      <a:r>
                        <a:rPr lang="en-US" altLang="ko-KR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웹 배포 작업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로그인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회원가입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예측 페이지 개발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321358"/>
                  </a:ext>
                </a:extLst>
              </a:tr>
              <a:tr h="144146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보고서 작성 및 </a:t>
                      </a:r>
                      <a:endParaRPr lang="en-US" altLang="ko-KR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발표 준비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6 </a:t>
                      </a:r>
                      <a:r>
                        <a:rPr lang="ko-KR" altLang="en-US" sz="35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최종 보고서 작성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Roboto ExtraBold" panose="02000000000000000000" pitchFamily="2" charset="0"/>
                          <a:ea typeface="Roboto ExtraBold" panose="02000000000000000000" pitchFamily="2" charset="0"/>
                        </a:rPr>
                        <a:t>PPT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제작 및 발표 준비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시각 자료</a:t>
                      </a:r>
                      <a:r>
                        <a:rPr lang="en-US" altLang="ko-KR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ko-KR" altLang="en-US" sz="35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결과 요약</a:t>
                      </a:r>
                      <a:endParaRPr lang="en-US" sz="35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marT="50292" marB="502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446286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992E8EA6-287A-4E22-9786-D2C094BBB1B6}"/>
              </a:ext>
            </a:extLst>
          </p:cNvPr>
          <p:cNvSpPr txBox="1"/>
          <p:nvPr/>
        </p:nvSpPr>
        <p:spPr>
          <a:xfrm>
            <a:off x="14020800" y="2136984"/>
            <a:ext cx="9906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총 개발 기간</a:t>
            </a:r>
            <a:r>
              <a:rPr lang="en-US" altLang="ko-KR" sz="3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2025.11.14 ~ 2025.12.18</a:t>
            </a:r>
            <a:endParaRPr lang="ko-KR" altLang="en-US" sz="3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21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4">
            <a:extLst>
              <a:ext uri="{FF2B5EF4-FFF2-40B4-BE49-F238E27FC236}">
                <a16:creationId xmlns:a16="http://schemas.microsoft.com/office/drawing/2014/main" id="{FC1D3718-EC61-4C3B-A9B4-CEE731E93BE7}"/>
              </a:ext>
            </a:extLst>
          </p:cNvPr>
          <p:cNvSpPr txBox="1"/>
          <p:nvPr/>
        </p:nvSpPr>
        <p:spPr>
          <a:xfrm>
            <a:off x="1320800" y="1162050"/>
            <a:ext cx="17576800" cy="121166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1. </a:t>
            </a:r>
            <a:r>
              <a:rPr lang="ko-KR" altLang="en-US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개요 </a:t>
            </a:r>
            <a:r>
              <a:rPr lang="en-US" altLang="ko-KR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– </a:t>
            </a:r>
            <a:r>
              <a:rPr lang="ko-KR" altLang="en-US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활용 장비 및 기술 스택</a:t>
            </a:r>
            <a:endParaRPr lang="ko-KR" sz="7000" b="0" i="0" u="none" strike="noStrike" spc="-13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0290A980-151F-4F00-8910-C1837ABE8A1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5714" y="3109680"/>
            <a:ext cx="22402800" cy="91585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9" name="TextBox 9">
            <a:extLst>
              <a:ext uri="{FF2B5EF4-FFF2-40B4-BE49-F238E27FC236}">
                <a16:creationId xmlns:a16="http://schemas.microsoft.com/office/drawing/2014/main" id="{2CDD9087-6E28-40B6-8301-E1E6F88AF1E2}"/>
              </a:ext>
            </a:extLst>
          </p:cNvPr>
          <p:cNvSpPr txBox="1"/>
          <p:nvPr/>
        </p:nvSpPr>
        <p:spPr>
          <a:xfrm>
            <a:off x="2065425" y="3886686"/>
            <a:ext cx="64389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ko-KR" altLang="en-US" sz="6000" b="0" i="0" u="none" strike="noStrike" spc="-187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개발 환경</a:t>
            </a:r>
            <a:endParaRPr lang="ko-KR" sz="6000" b="0" i="0" u="none" strike="noStrike" spc="-187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835AA7A5-099C-4450-A25F-8D7398F4301C}"/>
              </a:ext>
            </a:extLst>
          </p:cNvPr>
          <p:cNvSpPr txBox="1"/>
          <p:nvPr/>
        </p:nvSpPr>
        <p:spPr>
          <a:xfrm>
            <a:off x="1680633" y="7009006"/>
            <a:ext cx="7037914" cy="3530903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sz="50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</a:t>
            </a:r>
            <a:r>
              <a:rPr lang="en-US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1. IDE</a:t>
            </a:r>
            <a:r>
              <a:rPr lang="en-US" sz="50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/</a:t>
            </a:r>
            <a:r>
              <a:rPr lang="ko-KR" altLang="en-US" sz="50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편집기</a:t>
            </a:r>
            <a:endParaRPr lang="en-US" sz="5000" b="0" i="0" u="none" strike="noStrike" spc="-14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  <a:p>
            <a:pPr lvl="0" algn="l">
              <a:lnSpc>
                <a:spcPct val="155126"/>
              </a:lnSpc>
            </a:pPr>
            <a:r>
              <a:rPr lang="en-US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    - </a:t>
            </a:r>
            <a:r>
              <a:rPr lang="en-US" altLang="ko-KR" sz="5000" b="0" i="0" u="none" strike="noStrike" spc="-140" dirty="0" err="1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Colab</a:t>
            </a:r>
            <a:r>
              <a:rPr lang="en-US" altLang="ko-KR" sz="5000" b="0" i="0" u="none" strike="noStrike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Notebooks</a:t>
            </a:r>
          </a:p>
          <a:p>
            <a:pPr lvl="0" algn="l">
              <a:lnSpc>
                <a:spcPct val="155126"/>
              </a:lnSpc>
            </a:pPr>
            <a:r>
              <a:rPr lang="en-US" altLang="ko-KR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    - Spring Tool</a:t>
            </a:r>
            <a:r>
              <a:rPr lang="ko-KR" altLang="en-US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</a:t>
            </a:r>
            <a:r>
              <a:rPr lang="en-US" altLang="ko-KR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Suite(STS)</a:t>
            </a:r>
          </a:p>
          <a:p>
            <a:pPr lvl="0" algn="l">
              <a:lnSpc>
                <a:spcPct val="155126"/>
              </a:lnSpc>
            </a:pPr>
            <a:r>
              <a:rPr lang="en-US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   </a:t>
            </a:r>
            <a:r>
              <a:rPr lang="en-US" altLang="ko-KR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- AWS </a:t>
            </a:r>
            <a:r>
              <a:rPr lang="en-US" altLang="ko-KR" sz="5000" spc="-140" dirty="0" err="1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Lightsail</a:t>
            </a:r>
            <a:endParaRPr lang="en-US" sz="5000" spc="-14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  <a:p>
            <a:pPr lvl="0" algn="l">
              <a:lnSpc>
                <a:spcPct val="155126"/>
              </a:lnSpc>
            </a:pPr>
            <a:endParaRPr lang="en-US" sz="5000" b="0" i="0" u="none" strike="noStrike" spc="-14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CDD9087-6E28-40B6-8301-E1E6F88AF1E2}"/>
              </a:ext>
            </a:extLst>
          </p:cNvPr>
          <p:cNvSpPr txBox="1"/>
          <p:nvPr/>
        </p:nvSpPr>
        <p:spPr>
          <a:xfrm>
            <a:off x="6629400" y="12437603"/>
            <a:ext cx="177546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ko-KR" altLang="en-US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 출처 </a:t>
            </a: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  <a:r>
              <a:rPr lang="ko-KR" altLang="en-US" sz="5000" spc="-187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캐글</a:t>
            </a:r>
            <a:r>
              <a:rPr lang="ko-KR" altLang="en-US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데이터</a:t>
            </a: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(</a:t>
            </a:r>
            <a:r>
              <a:rPr lang="en-US" altLang="ko-KR" sz="5000" spc="-187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https://kaggle.com</a:t>
            </a: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)</a:t>
            </a:r>
            <a:endParaRPr lang="ko-KR" sz="5000" b="0" i="0" u="none" strike="noStrike" spc="-187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051D83-FD1C-42B4-87E7-42295D45A3C8}"/>
              </a:ext>
            </a:extLst>
          </p:cNvPr>
          <p:cNvSpPr txBox="1"/>
          <p:nvPr/>
        </p:nvSpPr>
        <p:spPr>
          <a:xfrm>
            <a:off x="10668000" y="6354293"/>
            <a:ext cx="8229600" cy="3530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5126"/>
              </a:lnSpc>
            </a:pPr>
            <a:r>
              <a:rPr lang="en-US" altLang="ko-KR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2. </a:t>
            </a:r>
            <a:r>
              <a:rPr lang="ko-KR" altLang="en-US" sz="50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개발 언어</a:t>
            </a:r>
            <a:endParaRPr lang="en-US" altLang="ko-KR" sz="5000" spc="-14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50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- </a:t>
            </a:r>
            <a:r>
              <a:rPr lang="en-US" altLang="ko-KR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Python</a:t>
            </a:r>
          </a:p>
          <a:p>
            <a:pPr lvl="0" algn="l">
              <a:lnSpc>
                <a:spcPct val="155126"/>
              </a:lnSpc>
            </a:pPr>
            <a:r>
              <a:rPr lang="en-US" altLang="ko-KR" sz="50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- </a:t>
            </a:r>
            <a:r>
              <a:rPr lang="en-US" altLang="ko-KR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Java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48588-A961-43AA-BF75-282383046D0D}"/>
              </a:ext>
            </a:extLst>
          </p:cNvPr>
          <p:cNvSpPr txBox="1"/>
          <p:nvPr/>
        </p:nvSpPr>
        <p:spPr>
          <a:xfrm>
            <a:off x="17602200" y="6434714"/>
            <a:ext cx="8229600" cy="233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5126"/>
              </a:lnSpc>
            </a:pPr>
            <a:r>
              <a:rPr lang="en-US" altLang="ko-KR" sz="50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3. </a:t>
            </a:r>
            <a:r>
              <a:rPr lang="ko-KR" altLang="en-US" sz="50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버전</a:t>
            </a:r>
            <a:r>
              <a:rPr lang="en-US" altLang="ko-KR" sz="50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관리</a:t>
            </a:r>
            <a:endParaRPr lang="en-US" altLang="ko-KR" sz="5000" spc="-14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5000" b="0" i="0" u="none" strike="noStrike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- Git/GitHub</a:t>
            </a:r>
            <a:endParaRPr lang="en-US" altLang="ko-KR" sz="5000" spc="-14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8EB1944-BD45-47FF-AE93-664A0685A553}"/>
              </a:ext>
            </a:extLst>
          </p:cNvPr>
          <p:cNvCxnSpPr>
            <a:cxnSpLocks/>
          </p:cNvCxnSpPr>
          <p:nvPr/>
        </p:nvCxnSpPr>
        <p:spPr>
          <a:xfrm flipH="1">
            <a:off x="9511891" y="5378168"/>
            <a:ext cx="21575" cy="4957822"/>
          </a:xfrm>
          <a:prstGeom prst="line">
            <a:avLst/>
          </a:prstGeom>
          <a:ln>
            <a:solidFill>
              <a:srgbClr val="197A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9DE593A-601A-42D0-8DED-5C8789B96AA0}"/>
              </a:ext>
            </a:extLst>
          </p:cNvPr>
          <p:cNvCxnSpPr>
            <a:cxnSpLocks/>
          </p:cNvCxnSpPr>
          <p:nvPr/>
        </p:nvCxnSpPr>
        <p:spPr>
          <a:xfrm flipH="1">
            <a:off x="16078200" y="5530568"/>
            <a:ext cx="21575" cy="4957822"/>
          </a:xfrm>
          <a:prstGeom prst="line">
            <a:avLst/>
          </a:prstGeom>
          <a:ln>
            <a:solidFill>
              <a:srgbClr val="197A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BC4AAF68-5CDB-4B6D-AECA-EF2AB52EB87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5714" y="3109680"/>
            <a:ext cx="22402800" cy="914220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4">
            <a:extLst>
              <a:ext uri="{FF2B5EF4-FFF2-40B4-BE49-F238E27FC236}">
                <a16:creationId xmlns:a16="http://schemas.microsoft.com/office/drawing/2014/main" id="{FC1D3718-EC61-4C3B-A9B4-CEE731E93BE7}"/>
              </a:ext>
            </a:extLst>
          </p:cNvPr>
          <p:cNvSpPr txBox="1"/>
          <p:nvPr/>
        </p:nvSpPr>
        <p:spPr>
          <a:xfrm>
            <a:off x="1320800" y="1162050"/>
            <a:ext cx="17576800" cy="121166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1. </a:t>
            </a:r>
            <a:r>
              <a:rPr lang="ko-KR" altLang="en-US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개요 </a:t>
            </a:r>
            <a:r>
              <a:rPr lang="en-US" altLang="ko-KR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– </a:t>
            </a:r>
            <a:r>
              <a:rPr lang="ko-KR" altLang="en-US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활용 장비 및 기술 스택</a:t>
            </a:r>
            <a:endParaRPr lang="ko-KR" sz="7000" b="0" i="0" u="none" strike="noStrike" spc="-13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285F55DE-40DD-4D8A-BBF1-7FC65A825B7F}"/>
              </a:ext>
            </a:extLst>
          </p:cNvPr>
          <p:cNvSpPr txBox="1"/>
          <p:nvPr/>
        </p:nvSpPr>
        <p:spPr>
          <a:xfrm>
            <a:off x="1981200" y="3886200"/>
            <a:ext cx="64389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ko-KR" altLang="en-US" sz="6000" b="0" i="0" u="none" strike="noStrike" spc="-187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기술 스택</a:t>
            </a:r>
            <a:endParaRPr lang="ko-KR" altLang="ko-KR" sz="6000" b="0" i="0" u="none" strike="noStrike" spc="-187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33166069-F5BF-400E-AC70-751491BFBD12}"/>
              </a:ext>
            </a:extLst>
          </p:cNvPr>
          <p:cNvSpPr txBox="1"/>
          <p:nvPr/>
        </p:nvSpPr>
        <p:spPr>
          <a:xfrm>
            <a:off x="4845523" y="5746773"/>
            <a:ext cx="8521700" cy="179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5000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1.</a:t>
            </a:r>
            <a:r>
              <a:rPr lang="ko-KR" altLang="en-US" sz="5000" b="0" i="0" u="none" strike="noStrike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en-US" altLang="ko-KR" sz="5000" b="0" i="0" u="none" strike="noStrike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Deep Learning</a:t>
            </a:r>
          </a:p>
          <a:p>
            <a:pPr lvl="0" algn="l">
              <a:lnSpc>
                <a:spcPct val="155126"/>
              </a:lnSpc>
            </a:pPr>
            <a:r>
              <a:rPr lang="en-US" altLang="ko-KR" sz="45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- CNN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 - </a:t>
            </a:r>
            <a:r>
              <a:rPr lang="en-US" altLang="ko-KR" sz="4500" spc="-140" dirty="0" err="1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ResNet</a:t>
            </a:r>
            <a:r>
              <a:rPr lang="en-US" altLang="ko-KR" sz="4500" spc="-14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</a:t>
            </a:r>
            <a:r>
              <a:rPr lang="ko-KR" altLang="en-US" sz="4500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계열 신경망</a:t>
            </a:r>
            <a:endParaRPr lang="en-US" altLang="ko-KR" sz="450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64C820A-0152-403B-B7A9-A8AB34739888}"/>
              </a:ext>
            </a:extLst>
          </p:cNvPr>
          <p:cNvCxnSpPr>
            <a:cxnSpLocks/>
          </p:cNvCxnSpPr>
          <p:nvPr/>
        </p:nvCxnSpPr>
        <p:spPr>
          <a:xfrm flipH="1">
            <a:off x="12171782" y="4879628"/>
            <a:ext cx="27995" cy="6432832"/>
          </a:xfrm>
          <a:prstGeom prst="line">
            <a:avLst/>
          </a:prstGeom>
          <a:ln>
            <a:solidFill>
              <a:srgbClr val="197A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8">
            <a:extLst>
              <a:ext uri="{FF2B5EF4-FFF2-40B4-BE49-F238E27FC236}">
                <a16:creationId xmlns:a16="http://schemas.microsoft.com/office/drawing/2014/main" id="{DEE4AF54-D9FC-4034-BB18-93CB86C18B92}"/>
              </a:ext>
            </a:extLst>
          </p:cNvPr>
          <p:cNvSpPr txBox="1"/>
          <p:nvPr/>
        </p:nvSpPr>
        <p:spPr>
          <a:xfrm>
            <a:off x="15547865" y="5196305"/>
            <a:ext cx="3556000" cy="179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5000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3.</a:t>
            </a:r>
            <a:r>
              <a:rPr lang="ko-KR" altLang="en-US" sz="5000" b="0" i="0" u="none" strike="noStrike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en-US" altLang="ko-KR" sz="5000" b="0" i="0" u="none" strike="noStrike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Frontend</a:t>
            </a:r>
            <a:endParaRPr lang="en-US" altLang="ko-KR" sz="5000" b="0" i="0" u="none" strike="noStrike" spc="-14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- </a:t>
            </a:r>
            <a:r>
              <a:rPr lang="en-US" altLang="ko-KR" sz="4500" dirty="0" err="1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Streamlit</a:t>
            </a:r>
            <a:endParaRPr lang="en-US" altLang="ko-KR" sz="450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F2C47841-4CF9-47E8-A735-3D2FA1159A3C}"/>
              </a:ext>
            </a:extLst>
          </p:cNvPr>
          <p:cNvSpPr txBox="1"/>
          <p:nvPr/>
        </p:nvSpPr>
        <p:spPr>
          <a:xfrm>
            <a:off x="15547865" y="8605470"/>
            <a:ext cx="8521700" cy="179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5000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4.</a:t>
            </a:r>
            <a:r>
              <a:rPr lang="ko-KR" altLang="en-US" sz="5000" b="0" i="0" u="none" strike="noStrike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en-US" altLang="ko-KR" sz="5000" b="0" i="0" u="none" strike="noStrike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Backend</a:t>
            </a:r>
            <a:endParaRPr lang="en-US" altLang="ko-KR" sz="5000" b="0" i="0" u="none" strike="noStrike" spc="-14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- Spring Boot</a:t>
            </a:r>
          </a:p>
          <a:p>
            <a:pPr lvl="0" algn="l">
              <a:lnSpc>
                <a:spcPct val="155126"/>
              </a:lnSpc>
            </a:pPr>
            <a:r>
              <a:rPr lang="en-US" altLang="ko-KR" sz="45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- Spring Security</a:t>
            </a:r>
          </a:p>
          <a:p>
            <a:pPr lvl="0" algn="l">
              <a:lnSpc>
                <a:spcPct val="155126"/>
              </a:lnSpc>
            </a:pPr>
            <a:r>
              <a:rPr lang="en-US" altLang="ko-KR" sz="45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- Spring Data JPA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1C8964C4-9891-4CB4-AD1E-E9D53D2E6CE8}"/>
              </a:ext>
            </a:extLst>
          </p:cNvPr>
          <p:cNvSpPr txBox="1"/>
          <p:nvPr/>
        </p:nvSpPr>
        <p:spPr>
          <a:xfrm>
            <a:off x="4962177" y="9427805"/>
            <a:ext cx="3293296" cy="179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5000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2.</a:t>
            </a:r>
            <a:r>
              <a:rPr lang="ko-KR" altLang="en-US" sz="5000" b="0" i="0" u="none" strike="noStrike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en-US" altLang="ko-KR" sz="5000" b="0" i="0" u="none" strike="noStrike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Database</a:t>
            </a:r>
            <a:endParaRPr lang="en-US" altLang="ko-KR" sz="5000" b="0" i="0" u="none" strike="noStrike" spc="-140" dirty="0">
              <a:latin typeface="Roboto Condensed ExtraBold" panose="02000000000000000000" pitchFamily="2" charset="0"/>
              <a:ea typeface="Roboto Condensed ExtraBold" panose="02000000000000000000" pitchFamily="2" charset="0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  - MySQL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34B51F89-60C0-44BF-A48A-053C4606666A}"/>
              </a:ext>
            </a:extLst>
          </p:cNvPr>
          <p:cNvSpPr txBox="1"/>
          <p:nvPr/>
        </p:nvSpPr>
        <p:spPr>
          <a:xfrm>
            <a:off x="7304219" y="11915751"/>
            <a:ext cx="9525789" cy="179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ko-KR" altLang="en-US" sz="5000" b="0" i="0" u="none" strike="noStrike" spc="-14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인증</a:t>
            </a:r>
            <a:r>
              <a:rPr lang="en-US" altLang="ko-KR" sz="5000" b="0" i="0" u="none" strike="noStrike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(</a:t>
            </a:r>
            <a:r>
              <a:rPr lang="ko-KR" altLang="en-US" sz="5000" b="0" i="0" u="none" strike="noStrike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보안</a:t>
            </a:r>
            <a:r>
              <a:rPr lang="en-US" altLang="ko-KR" sz="5000" b="0" i="0" u="none" strike="noStrike" spc="-14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): </a:t>
            </a:r>
            <a:r>
              <a:rPr lang="en-US" altLang="ko-KR" sz="45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JWT(JSON WEB TOKEN)</a:t>
            </a:r>
          </a:p>
        </p:txBody>
      </p:sp>
    </p:spTree>
    <p:extLst>
      <p:ext uri="{BB962C8B-B14F-4D97-AF65-F5344CB8AC3E}">
        <p14:creationId xmlns:p14="http://schemas.microsoft.com/office/powerpoint/2010/main" val="242624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5">
            <a:extLst>
              <a:ext uri="{FF2B5EF4-FFF2-40B4-BE49-F238E27FC236}">
                <a16:creationId xmlns:a16="http://schemas.microsoft.com/office/drawing/2014/main" id="{8F4E2E4A-0207-4296-96E1-293CA485B46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44400" y="3124200"/>
            <a:ext cx="5733934" cy="9677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Picture 5">
            <a:extLst>
              <a:ext uri="{FF2B5EF4-FFF2-40B4-BE49-F238E27FC236}">
                <a16:creationId xmlns:a16="http://schemas.microsoft.com/office/drawing/2014/main" id="{27821F1F-42E2-4F2A-8151-E0215DF0CE9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392061" y="3124200"/>
            <a:ext cx="5733934" cy="9677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Picture 5">
            <a:extLst>
              <a:ext uri="{FF2B5EF4-FFF2-40B4-BE49-F238E27FC236}">
                <a16:creationId xmlns:a16="http://schemas.microsoft.com/office/drawing/2014/main" id="{E722FFF3-5D13-4402-B13F-A345A81789B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96739" y="3124200"/>
            <a:ext cx="5733934" cy="9677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5">
            <a:extLst>
              <a:ext uri="{FF2B5EF4-FFF2-40B4-BE49-F238E27FC236}">
                <a16:creationId xmlns:a16="http://schemas.microsoft.com/office/drawing/2014/main" id="{CDA531A8-65E6-434F-8F09-F8BA2A3AD84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9078" y="3124200"/>
            <a:ext cx="5733934" cy="9677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4">
            <a:extLst>
              <a:ext uri="{FF2B5EF4-FFF2-40B4-BE49-F238E27FC236}">
                <a16:creationId xmlns:a16="http://schemas.microsoft.com/office/drawing/2014/main" id="{FC1D3718-EC61-4C3B-A9B4-CEE731E93BE7}"/>
              </a:ext>
            </a:extLst>
          </p:cNvPr>
          <p:cNvSpPr txBox="1"/>
          <p:nvPr/>
        </p:nvSpPr>
        <p:spPr>
          <a:xfrm>
            <a:off x="1320800" y="1162050"/>
            <a:ext cx="196342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팀 구성 및 역할</a:t>
            </a:r>
            <a:endParaRPr 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41098B3-A684-4438-AF22-764B07973761}"/>
              </a:ext>
            </a:extLst>
          </p:cNvPr>
          <p:cNvSpPr txBox="1"/>
          <p:nvPr/>
        </p:nvSpPr>
        <p:spPr>
          <a:xfrm>
            <a:off x="634588" y="8029790"/>
            <a:ext cx="6624083" cy="3378200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41100"/>
              </a:lnSpc>
            </a:pPr>
            <a:r>
              <a:rPr lang="en-US" altLang="ko-KR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  </a:t>
            </a:r>
            <a:r>
              <a:rPr lang="ko-KR" altLang="en-US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기획</a:t>
            </a:r>
            <a:endParaRPr lang="en-US" alt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설계 및 학습</a:t>
            </a:r>
            <a:endParaRPr lang="en-US" alt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30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백엔드</a:t>
            </a:r>
            <a:r>
              <a:rPr lang="ko-KR" altLang="en-US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30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API</a:t>
            </a:r>
            <a:r>
              <a:rPr lang="en-US" altLang="ko-KR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개발 및 웹 배포</a:t>
            </a:r>
            <a:endParaRPr lang="en-US" alt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DF4AC2EC-41E2-4302-8281-816BC87F1ED3}"/>
              </a:ext>
            </a:extLst>
          </p:cNvPr>
          <p:cNvSpPr txBox="1"/>
          <p:nvPr/>
        </p:nvSpPr>
        <p:spPr>
          <a:xfrm>
            <a:off x="421963" y="4525733"/>
            <a:ext cx="53848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5000" b="1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박아진</a:t>
            </a:r>
            <a:endParaRPr lang="en" sz="5000" b="1" i="0" u="none" strike="noStrike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9FBEB1FD-38E2-42BE-A45C-30519621099F}"/>
              </a:ext>
            </a:extLst>
          </p:cNvPr>
          <p:cNvSpPr txBox="1"/>
          <p:nvPr/>
        </p:nvSpPr>
        <p:spPr>
          <a:xfrm>
            <a:off x="7536455" y="6846322"/>
            <a:ext cx="5937250" cy="5506979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200000"/>
              </a:lnSpc>
            </a:pPr>
            <a:endParaRPr 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en-US" altLang="ko-KR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  </a:t>
            </a:r>
            <a:r>
              <a:rPr lang="ko-KR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</a:t>
            </a:r>
            <a:r>
              <a:rPr lang="en-US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3000" b="0" i="0" u="none" strike="noStrike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전처리</a:t>
            </a:r>
            <a:endParaRPr lang="en-US" alt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en-US" altLang="ko-KR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  </a:t>
            </a:r>
            <a:r>
              <a:rPr lang="ko-KR" altLang="en-US" sz="3000" b="0" i="0" u="none" strike="noStrike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프론트엔드</a:t>
            </a:r>
            <a:r>
              <a:rPr lang="ko-KR" altLang="en-US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개발</a:t>
            </a:r>
            <a:endParaRPr lang="en-US" altLang="ko-KR" sz="3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en-US" altLang="ko-KR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  </a:t>
            </a:r>
            <a:r>
              <a:rPr lang="ko-KR" altLang="en-US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최종 보고서 작성</a:t>
            </a:r>
            <a:br>
              <a:rPr lang="ko-KR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</a:br>
            <a:endParaRPr 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4900697B-A3BD-42DD-9778-398664331BF5}"/>
              </a:ext>
            </a:extLst>
          </p:cNvPr>
          <p:cNvSpPr txBox="1"/>
          <p:nvPr/>
        </p:nvSpPr>
        <p:spPr>
          <a:xfrm>
            <a:off x="6433654" y="4525733"/>
            <a:ext cx="53848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5000" b="1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이재혁</a:t>
            </a:r>
            <a:endParaRPr lang="en" sz="5000" b="1" i="0" u="none" strike="noStrike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AD10228-C6AF-4B51-9877-23A34288149A}"/>
              </a:ext>
            </a:extLst>
          </p:cNvPr>
          <p:cNvSpPr txBox="1"/>
          <p:nvPr/>
        </p:nvSpPr>
        <p:spPr>
          <a:xfrm>
            <a:off x="13325203" y="6795643"/>
            <a:ext cx="6471455" cy="33528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200000"/>
              </a:lnSpc>
            </a:pPr>
            <a:r>
              <a:rPr lang="en-US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    </a:t>
            </a:r>
            <a:endParaRPr 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학습 모니터링</a:t>
            </a:r>
            <a:endParaRPr lang="en-US" altLang="ko-KR" sz="3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데이터베이스</a:t>
            </a:r>
            <a:r>
              <a:rPr lang="en-US" altLang="ko-KR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설계</a:t>
            </a:r>
            <a:endParaRPr lang="en-US" altLang="ko-KR" sz="3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ko-KR" altLang="en-US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발표 자료 제작</a:t>
            </a:r>
            <a:br>
              <a:rPr lang="ko-KR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</a:br>
            <a:endParaRPr 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86AAA112-9AE3-4731-AEE9-3A49440DBBAF}"/>
              </a:ext>
            </a:extLst>
          </p:cNvPr>
          <p:cNvSpPr txBox="1"/>
          <p:nvPr/>
        </p:nvSpPr>
        <p:spPr>
          <a:xfrm>
            <a:off x="12586718" y="4525733"/>
            <a:ext cx="53848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5000" b="1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전진원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671B24-50F0-4E2B-A065-6B5615F0E2E7}"/>
              </a:ext>
            </a:extLst>
          </p:cNvPr>
          <p:cNvSpPr txBox="1"/>
          <p:nvPr/>
        </p:nvSpPr>
        <p:spPr>
          <a:xfrm>
            <a:off x="1200698" y="6340856"/>
            <a:ext cx="3733800" cy="575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1100"/>
              </a:lnSpc>
            </a:pPr>
            <a:r>
              <a:rPr lang="ko-KR" altLang="ko-KR" sz="25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altLang="ko-KR" sz="25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ko-KR" sz="25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0ACACA-1AD9-473C-A03A-8B9D5ABD5754}"/>
              </a:ext>
            </a:extLst>
          </p:cNvPr>
          <p:cNvSpPr txBox="1"/>
          <p:nvPr/>
        </p:nvSpPr>
        <p:spPr>
          <a:xfrm>
            <a:off x="13412218" y="6340856"/>
            <a:ext cx="3733800" cy="575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1100"/>
              </a:lnSpc>
            </a:pPr>
            <a:r>
              <a:rPr lang="ko-KR" altLang="ko-KR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altLang="ko-KR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팀원</a:t>
            </a:r>
            <a:r>
              <a:rPr lang="en-US" altLang="ko-KR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endParaRPr lang="ko-KR" altLang="ko-KR" sz="2500" b="1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394AB4-AD7D-4A09-B675-BE1997CE39D5}"/>
              </a:ext>
            </a:extLst>
          </p:cNvPr>
          <p:cNvSpPr txBox="1"/>
          <p:nvPr/>
        </p:nvSpPr>
        <p:spPr>
          <a:xfrm>
            <a:off x="7302239" y="6340856"/>
            <a:ext cx="3733800" cy="575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1100"/>
              </a:lnSpc>
            </a:pPr>
            <a:r>
              <a:rPr lang="ko-KR" altLang="ko-KR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altLang="ko-KR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팀원</a:t>
            </a:r>
            <a:r>
              <a:rPr lang="en-US" altLang="ko-KR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endParaRPr lang="ko-KR" altLang="ko-KR" sz="2500" b="1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36BE7578-BC57-428C-BA8A-4C785FB78167}"/>
              </a:ext>
            </a:extLst>
          </p:cNvPr>
          <p:cNvSpPr txBox="1"/>
          <p:nvPr/>
        </p:nvSpPr>
        <p:spPr>
          <a:xfrm>
            <a:off x="18596479" y="4525733"/>
            <a:ext cx="53848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5000" b="1" i="0" u="none" strike="noStrike" dirty="0" err="1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신형섭</a:t>
            </a:r>
            <a:endParaRPr lang="en" sz="5000" b="1" i="0" u="none" strike="noStrike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BDAA6F-1B68-4B01-A397-4D9F65F14477}"/>
              </a:ext>
            </a:extLst>
          </p:cNvPr>
          <p:cNvSpPr txBox="1"/>
          <p:nvPr/>
        </p:nvSpPr>
        <p:spPr>
          <a:xfrm>
            <a:off x="19421979" y="6340856"/>
            <a:ext cx="3733800" cy="575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1100"/>
              </a:lnSpc>
            </a:pPr>
            <a:r>
              <a:rPr lang="ko-KR" altLang="ko-KR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altLang="ko-KR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멘토</a:t>
            </a:r>
            <a:r>
              <a:rPr lang="en-US" altLang="ko-KR" sz="25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endParaRPr lang="ko-KR" altLang="ko-KR" sz="2500" b="1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44" name="TextBox 11">
            <a:extLst>
              <a:ext uri="{FF2B5EF4-FFF2-40B4-BE49-F238E27FC236}">
                <a16:creationId xmlns:a16="http://schemas.microsoft.com/office/drawing/2014/main" id="{7D0FAD06-7F0D-49F8-B7B3-31C6945EADFC}"/>
              </a:ext>
            </a:extLst>
          </p:cNvPr>
          <p:cNvSpPr txBox="1"/>
          <p:nvPr/>
        </p:nvSpPr>
        <p:spPr>
          <a:xfrm>
            <a:off x="19306461" y="7326573"/>
            <a:ext cx="6471455" cy="33528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200000"/>
              </a:lnSpc>
            </a:pPr>
            <a:r>
              <a:rPr lang="en-US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    </a:t>
            </a:r>
            <a:endParaRPr 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총괄 지도</a:t>
            </a:r>
            <a:endParaRPr lang="en-US" altLang="ko-KR" sz="3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실무 위주 피드백 제공</a:t>
            </a:r>
            <a:br>
              <a:rPr lang="ko-KR" sz="30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</a:br>
            <a:endParaRPr lang="ko-KR" sz="30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8985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4">
            <a:extLst>
              <a:ext uri="{FF2B5EF4-FFF2-40B4-BE49-F238E27FC236}">
                <a16:creationId xmlns:a16="http://schemas.microsoft.com/office/drawing/2014/main" id="{FC1D3718-EC61-4C3B-A9B4-CEE731E93BE7}"/>
              </a:ext>
            </a:extLst>
          </p:cNvPr>
          <p:cNvSpPr txBox="1"/>
          <p:nvPr/>
        </p:nvSpPr>
        <p:spPr>
          <a:xfrm>
            <a:off x="1320800" y="1162050"/>
            <a:ext cx="196342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b="0" i="0" u="none" strike="noStrike" spc="-133" dirty="0">
                <a:solidFill>
                  <a:srgbClr val="333333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3. </a:t>
            </a:r>
            <a:r>
              <a:rPr lang="ko-KR" altLang="en-US" sz="7000" b="0" i="0" u="none" strike="noStrike" spc="-133" dirty="0">
                <a:solidFill>
                  <a:srgbClr val="333333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절차 및 방법</a:t>
            </a:r>
            <a:endParaRPr lang="ko-KR" sz="7000" b="0" i="0" u="none" strike="noStrike" spc="-133" dirty="0">
              <a:solidFill>
                <a:srgbClr val="333333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50A6498-4780-45C0-896E-15A9306ACAEF}"/>
              </a:ext>
            </a:extLst>
          </p:cNvPr>
          <p:cNvGrpSpPr/>
          <p:nvPr/>
        </p:nvGrpSpPr>
        <p:grpSpPr>
          <a:xfrm>
            <a:off x="1219200" y="6079138"/>
            <a:ext cx="6096000" cy="4055462"/>
            <a:chOff x="2057400" y="3546613"/>
            <a:chExt cx="6096000" cy="4055462"/>
          </a:xfrm>
        </p:grpSpPr>
        <p:pic>
          <p:nvPicPr>
            <p:cNvPr id="29" name="Picture 5">
              <a:extLst>
                <a:ext uri="{FF2B5EF4-FFF2-40B4-BE49-F238E27FC236}">
                  <a16:creationId xmlns:a16="http://schemas.microsoft.com/office/drawing/2014/main" id="{72DB10E6-B609-4D7A-B1F5-3952E349C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400" y="3546613"/>
              <a:ext cx="4521615" cy="40554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1C8A6F06-23DC-4238-9AD6-C844836E8065}"/>
                </a:ext>
              </a:extLst>
            </p:cNvPr>
            <p:cNvSpPr txBox="1"/>
            <p:nvPr/>
          </p:nvSpPr>
          <p:spPr>
            <a:xfrm>
              <a:off x="2743200" y="4724400"/>
              <a:ext cx="5410200" cy="1994396"/>
            </a:xfrm>
            <a:prstGeom prst="rect">
              <a:avLst/>
            </a:prstGeom>
          </p:spPr>
          <p:txBody>
            <a:bodyPr rtlCol="0" anchor="t"/>
            <a:lstStyle/>
            <a:p>
              <a:pPr lvl="0">
                <a:lnSpc>
                  <a:spcPct val="150000"/>
                </a:lnSpc>
              </a:pPr>
              <a:r>
                <a:rPr lang="ko-KR" altLang="en-US" sz="4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데이터 수집 및</a:t>
              </a:r>
              <a:r>
                <a:rPr lang="en-US" altLang="ko-KR" sz="4000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 </a:t>
              </a:r>
            </a:p>
            <a:p>
              <a:pPr lvl="0">
                <a:lnSpc>
                  <a:spcPct val="150000"/>
                </a:lnSpc>
              </a:pPr>
              <a:r>
                <a:rPr lang="ko-KR" altLang="en-US" sz="4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      </a:t>
              </a:r>
              <a:r>
                <a:rPr lang="ko-KR" altLang="en-US" sz="4000" b="0" i="0" u="none" strike="noStrike" dirty="0" err="1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전처리</a:t>
              </a:r>
              <a:endParaRPr lang="en-US" altLang="ko-KR" sz="4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964830C-7AEE-4EB4-9454-9FE9176C699F}"/>
              </a:ext>
            </a:extLst>
          </p:cNvPr>
          <p:cNvGrpSpPr/>
          <p:nvPr/>
        </p:nvGrpSpPr>
        <p:grpSpPr>
          <a:xfrm>
            <a:off x="7093324" y="6079138"/>
            <a:ext cx="6033840" cy="4055462"/>
            <a:chOff x="2057400" y="3546613"/>
            <a:chExt cx="6033840" cy="4055462"/>
          </a:xfrm>
        </p:grpSpPr>
        <p:pic>
          <p:nvPicPr>
            <p:cNvPr id="35" name="Picture 5">
              <a:extLst>
                <a:ext uri="{FF2B5EF4-FFF2-40B4-BE49-F238E27FC236}">
                  <a16:creationId xmlns:a16="http://schemas.microsoft.com/office/drawing/2014/main" id="{A96DED2B-15A7-4C55-987B-6AE826F3D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400" y="3546613"/>
              <a:ext cx="4521615" cy="40554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6" name="TextBox 9">
              <a:extLst>
                <a:ext uri="{FF2B5EF4-FFF2-40B4-BE49-F238E27FC236}">
                  <a16:creationId xmlns:a16="http://schemas.microsoft.com/office/drawing/2014/main" id="{85B6F22C-A235-4822-A846-100BC5593BDA}"/>
                </a:ext>
              </a:extLst>
            </p:cNvPr>
            <p:cNvSpPr txBox="1"/>
            <p:nvPr/>
          </p:nvSpPr>
          <p:spPr>
            <a:xfrm>
              <a:off x="2681040" y="4724400"/>
              <a:ext cx="5410200" cy="1994396"/>
            </a:xfrm>
            <a:prstGeom prst="rect">
              <a:avLst/>
            </a:prstGeom>
          </p:spPr>
          <p:txBody>
            <a:bodyPr rtlCol="0" anchor="t"/>
            <a:lstStyle/>
            <a:p>
              <a:pPr lvl="0">
                <a:lnSpc>
                  <a:spcPct val="150000"/>
                </a:lnSpc>
              </a:pPr>
              <a:r>
                <a:rPr lang="ko-KR" altLang="en-US" sz="4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모델 설계 및 </a:t>
              </a:r>
              <a:endParaRPr lang="en-US" altLang="ko-KR" sz="4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  <a:p>
              <a:pPr lvl="0">
                <a:lnSpc>
                  <a:spcPct val="150000"/>
                </a:lnSpc>
              </a:pPr>
              <a:r>
                <a:rPr lang="ko-KR" altLang="en-US" sz="4000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최적의 모델 선정</a:t>
              </a:r>
              <a:endParaRPr lang="en-US" altLang="ko-KR" sz="4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F1BD265-2A70-4E91-A291-B3216372912E}"/>
              </a:ext>
            </a:extLst>
          </p:cNvPr>
          <p:cNvGrpSpPr/>
          <p:nvPr/>
        </p:nvGrpSpPr>
        <p:grpSpPr>
          <a:xfrm>
            <a:off x="12967448" y="6079138"/>
            <a:ext cx="6054834" cy="4055462"/>
            <a:chOff x="2057400" y="3546613"/>
            <a:chExt cx="6054834" cy="4055462"/>
          </a:xfrm>
        </p:grpSpPr>
        <p:pic>
          <p:nvPicPr>
            <p:cNvPr id="38" name="Picture 5">
              <a:extLst>
                <a:ext uri="{FF2B5EF4-FFF2-40B4-BE49-F238E27FC236}">
                  <a16:creationId xmlns:a16="http://schemas.microsoft.com/office/drawing/2014/main" id="{345A87CF-B16E-4162-BDF1-45AE4FEF9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400" y="3546613"/>
              <a:ext cx="4521615" cy="40554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9" name="TextBox 9">
              <a:extLst>
                <a:ext uri="{FF2B5EF4-FFF2-40B4-BE49-F238E27FC236}">
                  <a16:creationId xmlns:a16="http://schemas.microsoft.com/office/drawing/2014/main" id="{6620B945-2C12-49CB-8969-E67A3AA2017C}"/>
                </a:ext>
              </a:extLst>
            </p:cNvPr>
            <p:cNvSpPr txBox="1"/>
            <p:nvPr/>
          </p:nvSpPr>
          <p:spPr>
            <a:xfrm>
              <a:off x="2702034" y="4724400"/>
              <a:ext cx="5410200" cy="1994396"/>
            </a:xfrm>
            <a:prstGeom prst="rect">
              <a:avLst/>
            </a:prstGeom>
          </p:spPr>
          <p:txBody>
            <a:bodyPr rtlCol="0" anchor="t"/>
            <a:lstStyle/>
            <a:p>
              <a:pPr lvl="0">
                <a:lnSpc>
                  <a:spcPct val="150000"/>
                </a:lnSpc>
              </a:pPr>
              <a:r>
                <a:rPr lang="en-US" altLang="ko-KR" sz="4000" b="0" i="0" u="none" strike="noStrike" dirty="0">
                  <a:solidFill>
                    <a:srgbClr val="197A52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DB</a:t>
              </a:r>
              <a:r>
                <a:rPr lang="en-US" altLang="ko-KR" sz="4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 </a:t>
              </a:r>
              <a:r>
                <a:rPr lang="ko-KR" altLang="en-US" sz="4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구축 및 </a:t>
              </a:r>
              <a:endParaRPr lang="en-US" altLang="ko-KR" sz="4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  <a:p>
              <a:pPr lvl="0">
                <a:lnSpc>
                  <a:spcPct val="150000"/>
                </a:lnSpc>
              </a:pPr>
              <a:r>
                <a:rPr lang="ko-KR" altLang="en-US" sz="4000" b="0" i="0" u="none" strike="noStrike" dirty="0" err="1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백엔드</a:t>
              </a:r>
              <a:r>
                <a:rPr lang="ko-KR" altLang="en-US" sz="4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 </a:t>
              </a:r>
              <a:r>
                <a:rPr lang="en-US" altLang="ko-KR" sz="4000" b="0" i="0" u="none" strike="noStrike" dirty="0">
                  <a:solidFill>
                    <a:srgbClr val="197A52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API</a:t>
              </a:r>
              <a:r>
                <a:rPr lang="en-US" altLang="ko-KR" sz="4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 </a:t>
              </a:r>
              <a:r>
                <a:rPr lang="ko-KR" altLang="en-US" sz="4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개발</a:t>
              </a:r>
              <a:endParaRPr lang="en-US" altLang="ko-KR" sz="4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388F306-C816-4EDC-A69F-4EB5DE72C5D5}"/>
              </a:ext>
            </a:extLst>
          </p:cNvPr>
          <p:cNvGrpSpPr/>
          <p:nvPr/>
        </p:nvGrpSpPr>
        <p:grpSpPr>
          <a:xfrm>
            <a:off x="18841572" y="6079138"/>
            <a:ext cx="5851957" cy="4055462"/>
            <a:chOff x="2057400" y="3546613"/>
            <a:chExt cx="5851957" cy="4055462"/>
          </a:xfrm>
        </p:grpSpPr>
        <p:pic>
          <p:nvPicPr>
            <p:cNvPr id="41" name="Picture 5">
              <a:extLst>
                <a:ext uri="{FF2B5EF4-FFF2-40B4-BE49-F238E27FC236}">
                  <a16:creationId xmlns:a16="http://schemas.microsoft.com/office/drawing/2014/main" id="{8C8D9F57-74E0-4435-8E5A-A60C98930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400" y="3546613"/>
              <a:ext cx="4521615" cy="40554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2" name="TextBox 9">
              <a:extLst>
                <a:ext uri="{FF2B5EF4-FFF2-40B4-BE49-F238E27FC236}">
                  <a16:creationId xmlns:a16="http://schemas.microsoft.com/office/drawing/2014/main" id="{CC1D583D-3E67-4EF3-B454-9E9D73FC9E77}"/>
                </a:ext>
              </a:extLst>
            </p:cNvPr>
            <p:cNvSpPr txBox="1"/>
            <p:nvPr/>
          </p:nvSpPr>
          <p:spPr>
            <a:xfrm>
              <a:off x="2499157" y="4724400"/>
              <a:ext cx="5410200" cy="1994396"/>
            </a:xfrm>
            <a:prstGeom prst="rect">
              <a:avLst/>
            </a:prstGeom>
          </p:spPr>
          <p:txBody>
            <a:bodyPr rtlCol="0" anchor="t"/>
            <a:lstStyle/>
            <a:p>
              <a:pPr lvl="0">
                <a:lnSpc>
                  <a:spcPct val="150000"/>
                </a:lnSpc>
              </a:pPr>
              <a:r>
                <a:rPr lang="ko-KR" altLang="en-US" sz="4000" b="0" i="0" u="none" strike="noStrike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대시 보드 구현 및</a:t>
              </a:r>
              <a:endParaRPr lang="en-US" altLang="ko-KR" sz="4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  <a:p>
              <a:pPr lvl="0">
                <a:lnSpc>
                  <a:spcPct val="150000"/>
                </a:lnSpc>
              </a:pPr>
              <a:r>
                <a:rPr lang="ko-KR" altLang="en-US" sz="4000" dirty="0">
                  <a:solidFill>
                    <a:srgbClr val="197A5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        웹 배포</a:t>
              </a:r>
              <a:endParaRPr lang="en-US" altLang="ko-KR" sz="4000" b="0" i="0" u="none" strike="noStrike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</p:grpSp>
      <p:sp>
        <p:nvSpPr>
          <p:cNvPr id="43" name="TextBox 9">
            <a:extLst>
              <a:ext uri="{FF2B5EF4-FFF2-40B4-BE49-F238E27FC236}">
                <a16:creationId xmlns:a16="http://schemas.microsoft.com/office/drawing/2014/main" id="{73C52B75-5B05-4D0B-9076-747EC4DA89DA}"/>
              </a:ext>
            </a:extLst>
          </p:cNvPr>
          <p:cNvSpPr txBox="1"/>
          <p:nvPr/>
        </p:nvSpPr>
        <p:spPr>
          <a:xfrm>
            <a:off x="2310630" y="4424101"/>
            <a:ext cx="2338754" cy="11811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en-US" altLang="ko-KR" sz="6000" b="0" i="0" u="none" strike="noStrike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Step 1</a:t>
            </a:r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856FDA0E-00B2-475A-8FDB-4B1E86DB0D7E}"/>
              </a:ext>
            </a:extLst>
          </p:cNvPr>
          <p:cNvSpPr txBox="1"/>
          <p:nvPr/>
        </p:nvSpPr>
        <p:spPr>
          <a:xfrm>
            <a:off x="8184754" y="4424101"/>
            <a:ext cx="2338754" cy="11811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en-US" altLang="ko-KR" sz="6000" b="0" i="0" u="none" strike="noStrike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Step 2</a:t>
            </a: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287434DF-211C-469A-A90D-8EA583E14D42}"/>
              </a:ext>
            </a:extLst>
          </p:cNvPr>
          <p:cNvSpPr txBox="1"/>
          <p:nvPr/>
        </p:nvSpPr>
        <p:spPr>
          <a:xfrm>
            <a:off x="14058878" y="4424101"/>
            <a:ext cx="2338754" cy="11811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en-US" altLang="ko-KR" sz="6000" b="0" i="0" u="none" strike="noStrike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Step 3</a:t>
            </a: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B38B8F40-6758-4475-B17D-4B3B4EC07CDB}"/>
              </a:ext>
            </a:extLst>
          </p:cNvPr>
          <p:cNvSpPr txBox="1"/>
          <p:nvPr/>
        </p:nvSpPr>
        <p:spPr>
          <a:xfrm>
            <a:off x="19915417" y="4424101"/>
            <a:ext cx="2338754" cy="11811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en-US" altLang="ko-KR" sz="6000" b="0" i="0" u="none" strike="noStrike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Step 4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32612F7-564D-416B-A9F0-CF776D1CF28B}"/>
              </a:ext>
            </a:extLst>
          </p:cNvPr>
          <p:cNvSpPr/>
          <p:nvPr/>
        </p:nvSpPr>
        <p:spPr>
          <a:xfrm>
            <a:off x="6082358" y="8001000"/>
            <a:ext cx="699442" cy="401144"/>
          </a:xfrm>
          <a:prstGeom prst="rightArrow">
            <a:avLst/>
          </a:prstGeom>
          <a:solidFill>
            <a:srgbClr val="479475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D5E4E6CC-B59C-44FF-88E6-F0B1D95F0C71}"/>
              </a:ext>
            </a:extLst>
          </p:cNvPr>
          <p:cNvSpPr/>
          <p:nvPr/>
        </p:nvSpPr>
        <p:spPr>
          <a:xfrm>
            <a:off x="11926463" y="8001000"/>
            <a:ext cx="699442" cy="401144"/>
          </a:xfrm>
          <a:prstGeom prst="rightArrow">
            <a:avLst/>
          </a:prstGeom>
          <a:solidFill>
            <a:srgbClr val="479475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2C170B1C-751A-4BD7-A306-7C2A53045932}"/>
              </a:ext>
            </a:extLst>
          </p:cNvPr>
          <p:cNvSpPr/>
          <p:nvPr/>
        </p:nvSpPr>
        <p:spPr>
          <a:xfrm>
            <a:off x="17819813" y="8001000"/>
            <a:ext cx="699442" cy="401144"/>
          </a:xfrm>
          <a:prstGeom prst="rightArrow">
            <a:avLst/>
          </a:prstGeom>
          <a:solidFill>
            <a:srgbClr val="479475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768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7F11F0C0-E729-4334-BB3F-A22CFBFACA64}"/>
              </a:ext>
            </a:extLst>
          </p:cNvPr>
          <p:cNvGrpSpPr/>
          <p:nvPr/>
        </p:nvGrpSpPr>
        <p:grpSpPr>
          <a:xfrm>
            <a:off x="17463654" y="-2286000"/>
            <a:ext cx="9550400" cy="8600698"/>
            <a:chOff x="15392400" y="-628650"/>
            <a:chExt cx="14122400" cy="14643100"/>
          </a:xfrm>
        </p:grpSpPr>
        <p:pic>
          <p:nvPicPr>
            <p:cNvPr id="52" name="Picture 2">
              <a:extLst>
                <a:ext uri="{FF2B5EF4-FFF2-40B4-BE49-F238E27FC236}">
                  <a16:creationId xmlns:a16="http://schemas.microsoft.com/office/drawing/2014/main" id="{E7CCA3BA-FE4D-42BA-82FF-8F27DCC43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92400" y="-628650"/>
              <a:ext cx="14122400" cy="14643100"/>
            </a:xfrm>
            <a:prstGeom prst="rect">
              <a:avLst/>
            </a:prstGeom>
          </p:spPr>
        </p:pic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6B2A4F1-84B0-4E81-B6C1-B20A3DFC566E}"/>
                </a:ext>
              </a:extLst>
            </p:cNvPr>
            <p:cNvGrpSpPr/>
            <p:nvPr/>
          </p:nvGrpSpPr>
          <p:grpSpPr>
            <a:xfrm>
              <a:off x="17776205" y="3924931"/>
              <a:ext cx="7623456" cy="5810007"/>
              <a:chOff x="16497141" y="4069921"/>
              <a:chExt cx="7623456" cy="5810007"/>
            </a:xfrm>
          </p:grpSpPr>
          <p:pic>
            <p:nvPicPr>
              <p:cNvPr id="54" name="Picture 7">
                <a:extLst>
                  <a:ext uri="{FF2B5EF4-FFF2-40B4-BE49-F238E27FC236}">
                    <a16:creationId xmlns:a16="http://schemas.microsoft.com/office/drawing/2014/main" id="{63B5EFE8-8969-4BF7-AF4D-0D017F50E3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55" name="TextBox 8">
                <a:extLst>
                  <a:ext uri="{FF2B5EF4-FFF2-40B4-BE49-F238E27FC236}">
                    <a16:creationId xmlns:a16="http://schemas.microsoft.com/office/drawing/2014/main" id="{2F209FA5-E1D3-4D52-9031-0DF891EBB96D}"/>
                  </a:ext>
                </a:extLst>
              </p:cNvPr>
              <p:cNvSpPr txBox="1"/>
              <p:nvPr/>
            </p:nvSpPr>
            <p:spPr>
              <a:xfrm>
                <a:off x="16783831" y="8920947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56" name="TextBox 9">
                <a:extLst>
                  <a:ext uri="{FF2B5EF4-FFF2-40B4-BE49-F238E27FC236}">
                    <a16:creationId xmlns:a16="http://schemas.microsoft.com/office/drawing/2014/main" id="{1358CA54-D543-4E96-B6F2-2CF71ECD3281}"/>
                  </a:ext>
                </a:extLst>
              </p:cNvPr>
              <p:cNvSpPr txBox="1"/>
              <p:nvPr/>
            </p:nvSpPr>
            <p:spPr>
              <a:xfrm>
                <a:off x="16783831" y="798793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57" name="TextBox 10">
                <a:extLst>
                  <a:ext uri="{FF2B5EF4-FFF2-40B4-BE49-F238E27FC236}">
                    <a16:creationId xmlns:a16="http://schemas.microsoft.com/office/drawing/2014/main" id="{402340C6-8F42-49A0-89EB-177432550F60}"/>
                  </a:ext>
                </a:extLst>
              </p:cNvPr>
              <p:cNvSpPr txBox="1"/>
              <p:nvPr/>
            </p:nvSpPr>
            <p:spPr>
              <a:xfrm>
                <a:off x="16783830" y="7485350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  <a:p>
                <a:pPr lvl="0" algn="r">
                  <a:lnSpc>
                    <a:spcPct val="155126"/>
                  </a:lnSpc>
                </a:pPr>
                <a:endParaRPr lang="en" sz="2399" b="0" i="0" u="none" strike="noStrike" spc="-120" dirty="0">
                  <a:solidFill>
                    <a:srgbClr val="F2F2F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endParaRPr>
              </a:p>
            </p:txBody>
          </p:sp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45863404-9318-4650-925E-D41C538CD1A9}"/>
                  </a:ext>
                </a:extLst>
              </p:cNvPr>
              <p:cNvSpPr txBox="1"/>
              <p:nvPr/>
            </p:nvSpPr>
            <p:spPr>
              <a:xfrm>
                <a:off x="16527473" y="5976653"/>
                <a:ext cx="1129792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59" name="TextBox 12">
                <a:extLst>
                  <a:ext uri="{FF2B5EF4-FFF2-40B4-BE49-F238E27FC236}">
                    <a16:creationId xmlns:a16="http://schemas.microsoft.com/office/drawing/2014/main" id="{29346ECD-DBCB-4F16-8E9A-E7B137B93F58}"/>
                  </a:ext>
                </a:extLst>
              </p:cNvPr>
              <p:cNvSpPr txBox="1"/>
              <p:nvPr/>
            </p:nvSpPr>
            <p:spPr>
              <a:xfrm>
                <a:off x="16783830" y="503839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60" name="TextBox 13">
                <a:extLst>
                  <a:ext uri="{FF2B5EF4-FFF2-40B4-BE49-F238E27FC236}">
                    <a16:creationId xmlns:a16="http://schemas.microsoft.com/office/drawing/2014/main" id="{CDDF4CD1-BC69-4612-94D4-A5AD6180FD64}"/>
                  </a:ext>
                </a:extLst>
              </p:cNvPr>
              <p:cNvSpPr txBox="1"/>
              <p:nvPr/>
            </p:nvSpPr>
            <p:spPr>
              <a:xfrm>
                <a:off x="16497141" y="4069921"/>
                <a:ext cx="116302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61" name="Picture 14">
                <a:extLst>
                  <a:ext uri="{FF2B5EF4-FFF2-40B4-BE49-F238E27FC236}">
                    <a16:creationId xmlns:a16="http://schemas.microsoft.com/office/drawing/2014/main" id="{C8391537-FCD7-4C63-B2C7-8EA4F3276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62" name="Picture 15">
                <a:extLst>
                  <a:ext uri="{FF2B5EF4-FFF2-40B4-BE49-F238E27FC236}">
                    <a16:creationId xmlns:a16="http://schemas.microsoft.com/office/drawing/2014/main" id="{63FDE915-5D86-433A-809C-65F91F31BE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63" name="Picture 16">
                <a:extLst>
                  <a:ext uri="{FF2B5EF4-FFF2-40B4-BE49-F238E27FC236}">
                    <a16:creationId xmlns:a16="http://schemas.microsoft.com/office/drawing/2014/main" id="{C989159E-15A5-4E30-80EF-7B0A6C9FC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64" name="Picture 17">
                <a:extLst>
                  <a:ext uri="{FF2B5EF4-FFF2-40B4-BE49-F238E27FC236}">
                    <a16:creationId xmlns:a16="http://schemas.microsoft.com/office/drawing/2014/main" id="{27D6BBCB-AD67-4DEF-854F-87B1266CB9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65" name="TextBox 18">
                <a:extLst>
                  <a:ext uri="{FF2B5EF4-FFF2-40B4-BE49-F238E27FC236}">
                    <a16:creationId xmlns:a16="http://schemas.microsoft.com/office/drawing/2014/main" id="{9FD2F650-758B-4C1C-AA01-318F5F03FAD3}"/>
                  </a:ext>
                </a:extLst>
              </p:cNvPr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66" name="TextBox 19">
                <a:extLst>
                  <a:ext uri="{FF2B5EF4-FFF2-40B4-BE49-F238E27FC236}">
                    <a16:creationId xmlns:a16="http://schemas.microsoft.com/office/drawing/2014/main" id="{50ED103D-E954-4163-B720-C1D566A4BE80}"/>
                  </a:ext>
                </a:extLst>
              </p:cNvPr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67" name="TextBox 20">
                <a:extLst>
                  <a:ext uri="{FF2B5EF4-FFF2-40B4-BE49-F238E27FC236}">
                    <a16:creationId xmlns:a16="http://schemas.microsoft.com/office/drawing/2014/main" id="{1868D65A-80B2-411E-9051-C1193CC15E7E}"/>
                  </a:ext>
                </a:extLst>
              </p:cNvPr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68" name="TextBox 21">
                <a:extLst>
                  <a:ext uri="{FF2B5EF4-FFF2-40B4-BE49-F238E27FC236}">
                    <a16:creationId xmlns:a16="http://schemas.microsoft.com/office/drawing/2014/main" id="{C7ABC7C6-DC21-482A-8821-380759D4106C}"/>
                  </a:ext>
                </a:extLst>
              </p:cNvPr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sp>
        <p:nvSpPr>
          <p:cNvPr id="5" name="TextBox 5"/>
          <p:cNvSpPr txBox="1"/>
          <p:nvPr/>
        </p:nvSpPr>
        <p:spPr>
          <a:xfrm>
            <a:off x="1113429" y="7632740"/>
            <a:ext cx="7817214" cy="653861"/>
          </a:xfrm>
          <a:prstGeom prst="rect">
            <a:avLst/>
          </a:prstGeom>
        </p:spPr>
        <p:txBody>
          <a:bodyPr rtlCol="0" anchor="ctr"/>
          <a:lstStyle/>
          <a:p>
            <a:pPr lvl="0" algn="l"/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약 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7,000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장의 뇌 </a:t>
            </a:r>
            <a:r>
              <a:rPr lang="en-US" altLang="ko-KR" sz="54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CT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</a:p>
          <a:p>
            <a:pPr lvl="0" algn="l"/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의료 데이터 수집</a:t>
            </a:r>
            <a:endParaRPr lang="ko-KR" sz="5000" b="0" i="0" u="none" strike="noStrike" spc="-187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800" y="870237"/>
            <a:ext cx="10871200" cy="127818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4FAADC-69AD-4765-8DD4-6992C881A2BA}"/>
              </a:ext>
            </a:extLst>
          </p:cNvPr>
          <p:cNvSpPr txBox="1"/>
          <p:nvPr/>
        </p:nvSpPr>
        <p:spPr>
          <a:xfrm>
            <a:off x="791758" y="4347484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ko-KR" altLang="en-US" sz="6000" b="0" i="0" u="none" strike="noStrike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 수집 및 </a:t>
            </a:r>
            <a:r>
              <a:rPr lang="ko-KR" altLang="en-US" sz="6000" b="0" i="0" u="none" strike="noStrike" spc="-133" dirty="0" err="1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전처리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9121C65F-FC2A-4235-9281-4AD9B93CD971}"/>
              </a:ext>
            </a:extLst>
          </p:cNvPr>
          <p:cNvSpPr txBox="1"/>
          <p:nvPr/>
        </p:nvSpPr>
        <p:spPr>
          <a:xfrm>
            <a:off x="1113429" y="10185151"/>
            <a:ext cx="9836560" cy="653861"/>
          </a:xfrm>
          <a:prstGeom prst="rect">
            <a:avLst/>
          </a:prstGeom>
        </p:spPr>
        <p:txBody>
          <a:bodyPr rtlCol="0" anchor="ctr"/>
          <a:lstStyle/>
          <a:p>
            <a:pPr lvl="0" algn="l"/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이미지 크기 통일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정규화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증강</a:t>
            </a:r>
            <a:endParaRPr lang="ko-KR" sz="5000" b="0" i="0" u="none" strike="noStrike" spc="-187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A5CCFD-2B72-4B82-9903-17C2FA6773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95460" y="4347484"/>
            <a:ext cx="12396782" cy="84982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7F11F0C0-E729-4334-BB3F-A22CFBFACA64}"/>
              </a:ext>
            </a:extLst>
          </p:cNvPr>
          <p:cNvGrpSpPr/>
          <p:nvPr/>
        </p:nvGrpSpPr>
        <p:grpSpPr>
          <a:xfrm>
            <a:off x="17463654" y="-2286000"/>
            <a:ext cx="9550400" cy="8600698"/>
            <a:chOff x="15392400" y="-628650"/>
            <a:chExt cx="14122400" cy="14643100"/>
          </a:xfrm>
        </p:grpSpPr>
        <p:pic>
          <p:nvPicPr>
            <p:cNvPr id="52" name="Picture 2">
              <a:extLst>
                <a:ext uri="{FF2B5EF4-FFF2-40B4-BE49-F238E27FC236}">
                  <a16:creationId xmlns:a16="http://schemas.microsoft.com/office/drawing/2014/main" id="{E7CCA3BA-FE4D-42BA-82FF-8F27DCC43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92400" y="-628650"/>
              <a:ext cx="14122400" cy="14643100"/>
            </a:xfrm>
            <a:prstGeom prst="rect">
              <a:avLst/>
            </a:prstGeom>
          </p:spPr>
        </p:pic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6B2A4F1-84B0-4E81-B6C1-B20A3DFC566E}"/>
                </a:ext>
              </a:extLst>
            </p:cNvPr>
            <p:cNvGrpSpPr/>
            <p:nvPr/>
          </p:nvGrpSpPr>
          <p:grpSpPr>
            <a:xfrm>
              <a:off x="17776205" y="3924931"/>
              <a:ext cx="7623456" cy="5810007"/>
              <a:chOff x="16497141" y="4069921"/>
              <a:chExt cx="7623456" cy="5810007"/>
            </a:xfrm>
          </p:grpSpPr>
          <p:pic>
            <p:nvPicPr>
              <p:cNvPr id="54" name="Picture 7">
                <a:extLst>
                  <a:ext uri="{FF2B5EF4-FFF2-40B4-BE49-F238E27FC236}">
                    <a16:creationId xmlns:a16="http://schemas.microsoft.com/office/drawing/2014/main" id="{63B5EFE8-8969-4BF7-AF4D-0D017F50E3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55" name="TextBox 8">
                <a:extLst>
                  <a:ext uri="{FF2B5EF4-FFF2-40B4-BE49-F238E27FC236}">
                    <a16:creationId xmlns:a16="http://schemas.microsoft.com/office/drawing/2014/main" id="{2F209FA5-E1D3-4D52-9031-0DF891EBB96D}"/>
                  </a:ext>
                </a:extLst>
              </p:cNvPr>
              <p:cNvSpPr txBox="1"/>
              <p:nvPr/>
            </p:nvSpPr>
            <p:spPr>
              <a:xfrm>
                <a:off x="16783831" y="8920947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56" name="TextBox 9">
                <a:extLst>
                  <a:ext uri="{FF2B5EF4-FFF2-40B4-BE49-F238E27FC236}">
                    <a16:creationId xmlns:a16="http://schemas.microsoft.com/office/drawing/2014/main" id="{1358CA54-D543-4E96-B6F2-2CF71ECD3281}"/>
                  </a:ext>
                </a:extLst>
              </p:cNvPr>
              <p:cNvSpPr txBox="1"/>
              <p:nvPr/>
            </p:nvSpPr>
            <p:spPr>
              <a:xfrm>
                <a:off x="16783831" y="798793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57" name="TextBox 10">
                <a:extLst>
                  <a:ext uri="{FF2B5EF4-FFF2-40B4-BE49-F238E27FC236}">
                    <a16:creationId xmlns:a16="http://schemas.microsoft.com/office/drawing/2014/main" id="{402340C6-8F42-49A0-89EB-177432550F60}"/>
                  </a:ext>
                </a:extLst>
              </p:cNvPr>
              <p:cNvSpPr txBox="1"/>
              <p:nvPr/>
            </p:nvSpPr>
            <p:spPr>
              <a:xfrm>
                <a:off x="16783830" y="7485350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  <a:p>
                <a:pPr lvl="0" algn="r">
                  <a:lnSpc>
                    <a:spcPct val="155126"/>
                  </a:lnSpc>
                </a:pPr>
                <a:endParaRPr lang="en" sz="2399" b="0" i="0" u="none" strike="noStrike" spc="-120" dirty="0">
                  <a:solidFill>
                    <a:srgbClr val="F2F2F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endParaRPr>
              </a:p>
            </p:txBody>
          </p:sp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45863404-9318-4650-925E-D41C538CD1A9}"/>
                  </a:ext>
                </a:extLst>
              </p:cNvPr>
              <p:cNvSpPr txBox="1"/>
              <p:nvPr/>
            </p:nvSpPr>
            <p:spPr>
              <a:xfrm>
                <a:off x="16527473" y="5976653"/>
                <a:ext cx="1129792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59" name="TextBox 12">
                <a:extLst>
                  <a:ext uri="{FF2B5EF4-FFF2-40B4-BE49-F238E27FC236}">
                    <a16:creationId xmlns:a16="http://schemas.microsoft.com/office/drawing/2014/main" id="{29346ECD-DBCB-4F16-8E9A-E7B137B93F58}"/>
                  </a:ext>
                </a:extLst>
              </p:cNvPr>
              <p:cNvSpPr txBox="1"/>
              <p:nvPr/>
            </p:nvSpPr>
            <p:spPr>
              <a:xfrm>
                <a:off x="16783830" y="503839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60" name="TextBox 13">
                <a:extLst>
                  <a:ext uri="{FF2B5EF4-FFF2-40B4-BE49-F238E27FC236}">
                    <a16:creationId xmlns:a16="http://schemas.microsoft.com/office/drawing/2014/main" id="{CDDF4CD1-BC69-4612-94D4-A5AD6180FD64}"/>
                  </a:ext>
                </a:extLst>
              </p:cNvPr>
              <p:cNvSpPr txBox="1"/>
              <p:nvPr/>
            </p:nvSpPr>
            <p:spPr>
              <a:xfrm>
                <a:off x="16497141" y="4069921"/>
                <a:ext cx="116302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61" name="Picture 14">
                <a:extLst>
                  <a:ext uri="{FF2B5EF4-FFF2-40B4-BE49-F238E27FC236}">
                    <a16:creationId xmlns:a16="http://schemas.microsoft.com/office/drawing/2014/main" id="{C8391537-FCD7-4C63-B2C7-8EA4F3276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62" name="Picture 15">
                <a:extLst>
                  <a:ext uri="{FF2B5EF4-FFF2-40B4-BE49-F238E27FC236}">
                    <a16:creationId xmlns:a16="http://schemas.microsoft.com/office/drawing/2014/main" id="{63FDE915-5D86-433A-809C-65F91F31BE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63" name="Picture 16">
                <a:extLst>
                  <a:ext uri="{FF2B5EF4-FFF2-40B4-BE49-F238E27FC236}">
                    <a16:creationId xmlns:a16="http://schemas.microsoft.com/office/drawing/2014/main" id="{C989159E-15A5-4E30-80EF-7B0A6C9FC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64" name="Picture 17">
                <a:extLst>
                  <a:ext uri="{FF2B5EF4-FFF2-40B4-BE49-F238E27FC236}">
                    <a16:creationId xmlns:a16="http://schemas.microsoft.com/office/drawing/2014/main" id="{27D6BBCB-AD67-4DEF-854F-87B1266CB9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65" name="TextBox 18">
                <a:extLst>
                  <a:ext uri="{FF2B5EF4-FFF2-40B4-BE49-F238E27FC236}">
                    <a16:creationId xmlns:a16="http://schemas.microsoft.com/office/drawing/2014/main" id="{9FD2F650-758B-4C1C-AA01-318F5F03FAD3}"/>
                  </a:ext>
                </a:extLst>
              </p:cNvPr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66" name="TextBox 19">
                <a:extLst>
                  <a:ext uri="{FF2B5EF4-FFF2-40B4-BE49-F238E27FC236}">
                    <a16:creationId xmlns:a16="http://schemas.microsoft.com/office/drawing/2014/main" id="{50ED103D-E954-4163-B720-C1D566A4BE80}"/>
                  </a:ext>
                </a:extLst>
              </p:cNvPr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67" name="TextBox 20">
                <a:extLst>
                  <a:ext uri="{FF2B5EF4-FFF2-40B4-BE49-F238E27FC236}">
                    <a16:creationId xmlns:a16="http://schemas.microsoft.com/office/drawing/2014/main" id="{1868D65A-80B2-411E-9051-C1193CC15E7E}"/>
                  </a:ext>
                </a:extLst>
              </p:cNvPr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68" name="TextBox 21">
                <a:extLst>
                  <a:ext uri="{FF2B5EF4-FFF2-40B4-BE49-F238E27FC236}">
                    <a16:creationId xmlns:a16="http://schemas.microsoft.com/office/drawing/2014/main" id="{C7ABC7C6-DC21-482A-8821-380759D4106C}"/>
                  </a:ext>
                </a:extLst>
              </p:cNvPr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sp>
        <p:nvSpPr>
          <p:cNvPr id="5" name="TextBox 5"/>
          <p:cNvSpPr txBox="1"/>
          <p:nvPr/>
        </p:nvSpPr>
        <p:spPr>
          <a:xfrm>
            <a:off x="1157828" y="5591234"/>
            <a:ext cx="9537700" cy="3643553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en-US" altLang="ko-KR" sz="54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1) CNN,</a:t>
            </a:r>
            <a:r>
              <a:rPr lang="ko-KR" altLang="en-US" sz="5400" dirty="0">
                <a:latin typeface="Roboto Condensed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en-US" altLang="ko-KR" sz="5400" dirty="0" err="1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ResNet</a:t>
            </a:r>
            <a:r>
              <a:rPr lang="en-US" altLang="ko-KR" sz="54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</a:t>
            </a:r>
            <a:r>
              <a:rPr lang="en-US" altLang="ko-KR" sz="54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50, </a:t>
            </a:r>
          </a:p>
          <a:p>
            <a:pPr lvl="0">
              <a:lnSpc>
                <a:spcPct val="150000"/>
              </a:lnSpc>
            </a:pPr>
            <a:r>
              <a:rPr lang="en-US" altLang="ko-KR" sz="54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    </a:t>
            </a:r>
            <a:r>
              <a:rPr lang="en-US" altLang="ko-KR" sz="5400" dirty="0" err="1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ResNet</a:t>
            </a:r>
            <a:r>
              <a:rPr lang="en-US" altLang="ko-KR" sz="54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fine-tuned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사용</a:t>
            </a:r>
            <a:endParaRPr lang="en-US" altLang="ko-KR" sz="54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800" y="870237"/>
            <a:ext cx="10871200" cy="127818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9121C65F-FC2A-4235-9281-4AD9B93CD971}"/>
              </a:ext>
            </a:extLst>
          </p:cNvPr>
          <p:cNvSpPr txBox="1"/>
          <p:nvPr/>
        </p:nvSpPr>
        <p:spPr>
          <a:xfrm>
            <a:off x="1397000" y="10187987"/>
            <a:ext cx="10833100" cy="1528285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사용한 모델 간 성능 차이를  </a:t>
            </a:r>
            <a:endParaRPr lang="en-US" altLang="ko-KR" sz="54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분석 후 최적의 모델 선정</a:t>
            </a:r>
            <a:endParaRPr lang="en-US" altLang="ko-KR" sz="54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E2333D-B2DF-4B1B-B03B-C9CADB724DEE}"/>
              </a:ext>
            </a:extLst>
          </p:cNvPr>
          <p:cNvSpPr txBox="1"/>
          <p:nvPr/>
        </p:nvSpPr>
        <p:spPr>
          <a:xfrm>
            <a:off x="755664" y="4086810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ko-KR" altLang="en-US" sz="6000" b="0" i="0" u="none" strike="noStrike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설계 및 성능 비교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BE8BA9-0A47-4D64-869F-3CFBC96A3B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1195" y="4219335"/>
            <a:ext cx="12396781" cy="84982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5950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E9E50692-69A4-40B5-B76A-F465A68B4140}"/>
              </a:ext>
            </a:extLst>
          </p:cNvPr>
          <p:cNvGrpSpPr/>
          <p:nvPr/>
        </p:nvGrpSpPr>
        <p:grpSpPr>
          <a:xfrm>
            <a:off x="17463654" y="-2286000"/>
            <a:ext cx="9550400" cy="8600698"/>
            <a:chOff x="15392400" y="-628650"/>
            <a:chExt cx="14122400" cy="14643100"/>
          </a:xfrm>
        </p:grpSpPr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1B114A26-59C3-462A-93B5-5F23A755B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92400" y="-628650"/>
              <a:ext cx="14122400" cy="14643100"/>
            </a:xfrm>
            <a:prstGeom prst="rect">
              <a:avLst/>
            </a:prstGeom>
          </p:spPr>
        </p:pic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5DB99B8-1A30-492B-A4F3-8F583E93F453}"/>
                </a:ext>
              </a:extLst>
            </p:cNvPr>
            <p:cNvGrpSpPr/>
            <p:nvPr/>
          </p:nvGrpSpPr>
          <p:grpSpPr>
            <a:xfrm>
              <a:off x="17776205" y="3924931"/>
              <a:ext cx="7623456" cy="5810007"/>
              <a:chOff x="16497141" y="4069921"/>
              <a:chExt cx="7623456" cy="5810007"/>
            </a:xfrm>
          </p:grpSpPr>
          <p:pic>
            <p:nvPicPr>
              <p:cNvPr id="35" name="Picture 7">
                <a:extLst>
                  <a:ext uri="{FF2B5EF4-FFF2-40B4-BE49-F238E27FC236}">
                    <a16:creationId xmlns:a16="http://schemas.microsoft.com/office/drawing/2014/main" id="{A60A797B-5452-4BEF-BCEB-74092FF87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36" name="TextBox 8">
                <a:extLst>
                  <a:ext uri="{FF2B5EF4-FFF2-40B4-BE49-F238E27FC236}">
                    <a16:creationId xmlns:a16="http://schemas.microsoft.com/office/drawing/2014/main" id="{201822F8-F20B-48F9-B815-A6B6B88192C9}"/>
                  </a:ext>
                </a:extLst>
              </p:cNvPr>
              <p:cNvSpPr txBox="1"/>
              <p:nvPr/>
            </p:nvSpPr>
            <p:spPr>
              <a:xfrm>
                <a:off x="16783831" y="8920947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37" name="TextBox 9">
                <a:extLst>
                  <a:ext uri="{FF2B5EF4-FFF2-40B4-BE49-F238E27FC236}">
                    <a16:creationId xmlns:a16="http://schemas.microsoft.com/office/drawing/2014/main" id="{848C9121-AA8B-4B1F-900A-EC9645537954}"/>
                  </a:ext>
                </a:extLst>
              </p:cNvPr>
              <p:cNvSpPr txBox="1"/>
              <p:nvPr/>
            </p:nvSpPr>
            <p:spPr>
              <a:xfrm>
                <a:off x="16783831" y="798793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38" name="TextBox 10">
                <a:extLst>
                  <a:ext uri="{FF2B5EF4-FFF2-40B4-BE49-F238E27FC236}">
                    <a16:creationId xmlns:a16="http://schemas.microsoft.com/office/drawing/2014/main" id="{C19A0F75-4653-41E9-BFAB-088270C56CC7}"/>
                  </a:ext>
                </a:extLst>
              </p:cNvPr>
              <p:cNvSpPr txBox="1"/>
              <p:nvPr/>
            </p:nvSpPr>
            <p:spPr>
              <a:xfrm>
                <a:off x="16783830" y="7485350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  <a:p>
                <a:pPr lvl="0" algn="r">
                  <a:lnSpc>
                    <a:spcPct val="155126"/>
                  </a:lnSpc>
                </a:pPr>
                <a:endParaRPr lang="en" sz="2399" b="0" i="0" u="none" strike="noStrike" spc="-120" dirty="0">
                  <a:solidFill>
                    <a:srgbClr val="F2F2F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endParaRPr>
              </a:p>
            </p:txBody>
          </p:sp>
          <p:sp>
            <p:nvSpPr>
              <p:cNvPr id="39" name="TextBox 11">
                <a:extLst>
                  <a:ext uri="{FF2B5EF4-FFF2-40B4-BE49-F238E27FC236}">
                    <a16:creationId xmlns:a16="http://schemas.microsoft.com/office/drawing/2014/main" id="{743AE454-7C82-4869-966B-AFE484D5F81B}"/>
                  </a:ext>
                </a:extLst>
              </p:cNvPr>
              <p:cNvSpPr txBox="1"/>
              <p:nvPr/>
            </p:nvSpPr>
            <p:spPr>
              <a:xfrm>
                <a:off x="16527473" y="5976653"/>
                <a:ext cx="1129792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40" name="TextBox 12">
                <a:extLst>
                  <a:ext uri="{FF2B5EF4-FFF2-40B4-BE49-F238E27FC236}">
                    <a16:creationId xmlns:a16="http://schemas.microsoft.com/office/drawing/2014/main" id="{1380ED55-7670-4985-875E-E5E8BDFDCE4A}"/>
                  </a:ext>
                </a:extLst>
              </p:cNvPr>
              <p:cNvSpPr txBox="1"/>
              <p:nvPr/>
            </p:nvSpPr>
            <p:spPr>
              <a:xfrm>
                <a:off x="16783830" y="503839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41" name="TextBox 13">
                <a:extLst>
                  <a:ext uri="{FF2B5EF4-FFF2-40B4-BE49-F238E27FC236}">
                    <a16:creationId xmlns:a16="http://schemas.microsoft.com/office/drawing/2014/main" id="{13570195-D15E-4DE1-BB7A-CAC4C80B737D}"/>
                  </a:ext>
                </a:extLst>
              </p:cNvPr>
              <p:cNvSpPr txBox="1"/>
              <p:nvPr/>
            </p:nvSpPr>
            <p:spPr>
              <a:xfrm>
                <a:off x="16497141" y="4069921"/>
                <a:ext cx="116302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42" name="Picture 14">
                <a:extLst>
                  <a:ext uri="{FF2B5EF4-FFF2-40B4-BE49-F238E27FC236}">
                    <a16:creationId xmlns:a16="http://schemas.microsoft.com/office/drawing/2014/main" id="{2388D963-E801-4D44-824A-7E9458819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43" name="Picture 15">
                <a:extLst>
                  <a:ext uri="{FF2B5EF4-FFF2-40B4-BE49-F238E27FC236}">
                    <a16:creationId xmlns:a16="http://schemas.microsoft.com/office/drawing/2014/main" id="{D83C874A-5222-4676-A757-66B0EF573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44" name="Picture 16">
                <a:extLst>
                  <a:ext uri="{FF2B5EF4-FFF2-40B4-BE49-F238E27FC236}">
                    <a16:creationId xmlns:a16="http://schemas.microsoft.com/office/drawing/2014/main" id="{444C758E-E6B3-4EDA-BF19-0FBE076136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45" name="Picture 17">
                <a:extLst>
                  <a:ext uri="{FF2B5EF4-FFF2-40B4-BE49-F238E27FC236}">
                    <a16:creationId xmlns:a16="http://schemas.microsoft.com/office/drawing/2014/main" id="{839EED28-2885-4FD6-A24B-61C8781957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46" name="TextBox 18">
                <a:extLst>
                  <a:ext uri="{FF2B5EF4-FFF2-40B4-BE49-F238E27FC236}">
                    <a16:creationId xmlns:a16="http://schemas.microsoft.com/office/drawing/2014/main" id="{6B92DC4F-06AA-46A9-BAC1-6302A370CD45}"/>
                  </a:ext>
                </a:extLst>
              </p:cNvPr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47" name="TextBox 19">
                <a:extLst>
                  <a:ext uri="{FF2B5EF4-FFF2-40B4-BE49-F238E27FC236}">
                    <a16:creationId xmlns:a16="http://schemas.microsoft.com/office/drawing/2014/main" id="{9AB12B35-4557-44B4-950B-C6186CD56384}"/>
                  </a:ext>
                </a:extLst>
              </p:cNvPr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48" name="TextBox 20">
                <a:extLst>
                  <a:ext uri="{FF2B5EF4-FFF2-40B4-BE49-F238E27FC236}">
                    <a16:creationId xmlns:a16="http://schemas.microsoft.com/office/drawing/2014/main" id="{088A90D4-619C-4B50-BB68-B1FE6F4C5AA8}"/>
                  </a:ext>
                </a:extLst>
              </p:cNvPr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49" name="TextBox 21">
                <a:extLst>
                  <a:ext uri="{FF2B5EF4-FFF2-40B4-BE49-F238E27FC236}">
                    <a16:creationId xmlns:a16="http://schemas.microsoft.com/office/drawing/2014/main" id="{F6F6CC23-0C19-443A-83B9-9EDD9FFA1E04}"/>
                  </a:ext>
                </a:extLst>
              </p:cNvPr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sp>
        <p:nvSpPr>
          <p:cNvPr id="5" name="TextBox 5"/>
          <p:cNvSpPr txBox="1"/>
          <p:nvPr/>
        </p:nvSpPr>
        <p:spPr>
          <a:xfrm>
            <a:off x="1661333" y="5520155"/>
            <a:ext cx="64389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 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99.13%</a:t>
            </a:r>
            <a:endParaRPr lang="ko-KR" sz="5000" b="0" i="0" u="none" strike="noStrike" spc="-187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04381" y="6396564"/>
            <a:ext cx="10009325" cy="1886749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→ </a:t>
            </a:r>
            <a:r>
              <a:rPr lang="ko-KR" altLang="en-US" sz="5000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비정상적으로 높은 확률</a:t>
            </a:r>
            <a:endParaRPr lang="en-US" altLang="ko-KR" sz="5000" b="0" i="0" u="none" strike="noStrike" spc="-153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800" y="870237"/>
            <a:ext cx="8204200" cy="127818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5E42BDE1-D6AE-4649-BDFA-B9D5B9C44E92}"/>
              </a:ext>
            </a:extLst>
          </p:cNvPr>
          <p:cNvSpPr txBox="1"/>
          <p:nvPr/>
        </p:nvSpPr>
        <p:spPr>
          <a:xfrm>
            <a:off x="1661333" y="8827325"/>
            <a:ext cx="7664814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정확도의 신뢰도 향상 필요</a:t>
            </a:r>
            <a:endParaRPr lang="ko-KR" sz="5000" b="0" i="0" u="none" strike="noStrike" spc="-187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A333B89-AA19-4D88-8291-0159D703381D}"/>
              </a:ext>
            </a:extLst>
          </p:cNvPr>
          <p:cNvSpPr txBox="1"/>
          <p:nvPr/>
        </p:nvSpPr>
        <p:spPr>
          <a:xfrm>
            <a:off x="2212422" y="9419345"/>
            <a:ext cx="6914120" cy="3831046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→  </a:t>
            </a:r>
            <a:r>
              <a:rPr lang="ko-KR" altLang="en-US" sz="5000" spc="-153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학습률</a:t>
            </a:r>
            <a:r>
              <a:rPr lang="ko-KR" altLang="en-US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중심의 </a:t>
            </a:r>
            <a:endParaRPr lang="en-US" altLang="ko-KR" sz="50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</a:t>
            </a:r>
            <a:r>
              <a:rPr lang="ko-KR" altLang="en-US" sz="5000" spc="-153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하이퍼파라미터</a:t>
            </a:r>
            <a:r>
              <a:rPr lang="ko-KR" altLang="en-US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튜닝</a:t>
            </a:r>
            <a:r>
              <a:rPr lang="en-US" altLang="ko-KR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endParaRPr lang="en-US" altLang="ko-KR" sz="5000" b="0" i="0" u="none" strike="noStrike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AE42775-175F-425D-8F24-9CC4BE74C5FF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348605" y="4387250"/>
            <a:ext cx="12230098" cy="815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B4FAADC-69AD-4765-8DD4-6992C881A2BA}"/>
              </a:ext>
            </a:extLst>
          </p:cNvPr>
          <p:cNvSpPr txBox="1"/>
          <p:nvPr/>
        </p:nvSpPr>
        <p:spPr>
          <a:xfrm>
            <a:off x="791758" y="3614639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6000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CNN</a:t>
            </a:r>
            <a:r>
              <a:rPr lang="en-US" altLang="ko-KR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신경망으로 학습한 결과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0949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C9F0D524-FC17-4302-97A5-738F7A33058C}"/>
              </a:ext>
            </a:extLst>
          </p:cNvPr>
          <p:cNvGrpSpPr/>
          <p:nvPr/>
        </p:nvGrpSpPr>
        <p:grpSpPr>
          <a:xfrm>
            <a:off x="17463654" y="-2286000"/>
            <a:ext cx="9550400" cy="8600698"/>
            <a:chOff x="15392400" y="-628650"/>
            <a:chExt cx="14122400" cy="14643100"/>
          </a:xfrm>
        </p:grpSpPr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3FC6E56F-4FAF-48F3-9131-C5BC40171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92400" y="-628650"/>
              <a:ext cx="14122400" cy="14643100"/>
            </a:xfrm>
            <a:prstGeom prst="rect">
              <a:avLst/>
            </a:prstGeom>
          </p:spPr>
        </p:pic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222ED0FA-41AF-41D8-B6C7-72868B9C4AE1}"/>
                </a:ext>
              </a:extLst>
            </p:cNvPr>
            <p:cNvGrpSpPr/>
            <p:nvPr/>
          </p:nvGrpSpPr>
          <p:grpSpPr>
            <a:xfrm>
              <a:off x="17776205" y="3924931"/>
              <a:ext cx="7623456" cy="5810007"/>
              <a:chOff x="16497141" y="4069921"/>
              <a:chExt cx="7623456" cy="5810007"/>
            </a:xfrm>
          </p:grpSpPr>
          <p:pic>
            <p:nvPicPr>
              <p:cNvPr id="37" name="Picture 7">
                <a:extLst>
                  <a:ext uri="{FF2B5EF4-FFF2-40B4-BE49-F238E27FC236}">
                    <a16:creationId xmlns:a16="http://schemas.microsoft.com/office/drawing/2014/main" id="{EB8AC566-6E87-43F4-9E49-7CED8B6C5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38" name="TextBox 8">
                <a:extLst>
                  <a:ext uri="{FF2B5EF4-FFF2-40B4-BE49-F238E27FC236}">
                    <a16:creationId xmlns:a16="http://schemas.microsoft.com/office/drawing/2014/main" id="{C76B53CE-6B4D-4546-B928-B2455096C604}"/>
                  </a:ext>
                </a:extLst>
              </p:cNvPr>
              <p:cNvSpPr txBox="1"/>
              <p:nvPr/>
            </p:nvSpPr>
            <p:spPr>
              <a:xfrm>
                <a:off x="16783831" y="8920947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39" name="TextBox 9">
                <a:extLst>
                  <a:ext uri="{FF2B5EF4-FFF2-40B4-BE49-F238E27FC236}">
                    <a16:creationId xmlns:a16="http://schemas.microsoft.com/office/drawing/2014/main" id="{86DF32E2-F70C-451F-BF10-4AD4EFB50745}"/>
                  </a:ext>
                </a:extLst>
              </p:cNvPr>
              <p:cNvSpPr txBox="1"/>
              <p:nvPr/>
            </p:nvSpPr>
            <p:spPr>
              <a:xfrm>
                <a:off x="16783831" y="798793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40" name="TextBox 10">
                <a:extLst>
                  <a:ext uri="{FF2B5EF4-FFF2-40B4-BE49-F238E27FC236}">
                    <a16:creationId xmlns:a16="http://schemas.microsoft.com/office/drawing/2014/main" id="{19219EC4-3B79-4F8D-96FB-904F770A1291}"/>
                  </a:ext>
                </a:extLst>
              </p:cNvPr>
              <p:cNvSpPr txBox="1"/>
              <p:nvPr/>
            </p:nvSpPr>
            <p:spPr>
              <a:xfrm>
                <a:off x="16783830" y="7485350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  <a:p>
                <a:pPr lvl="0" algn="r">
                  <a:lnSpc>
                    <a:spcPct val="155126"/>
                  </a:lnSpc>
                </a:pPr>
                <a:endParaRPr lang="en" sz="2399" b="0" i="0" u="none" strike="noStrike" spc="-120" dirty="0">
                  <a:solidFill>
                    <a:srgbClr val="F2F2F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endParaRPr>
              </a:p>
            </p:txBody>
          </p:sp>
          <p:sp>
            <p:nvSpPr>
              <p:cNvPr id="41" name="TextBox 11">
                <a:extLst>
                  <a:ext uri="{FF2B5EF4-FFF2-40B4-BE49-F238E27FC236}">
                    <a16:creationId xmlns:a16="http://schemas.microsoft.com/office/drawing/2014/main" id="{ADC14FA8-AF06-4042-B52D-66232943B26B}"/>
                  </a:ext>
                </a:extLst>
              </p:cNvPr>
              <p:cNvSpPr txBox="1"/>
              <p:nvPr/>
            </p:nvSpPr>
            <p:spPr>
              <a:xfrm>
                <a:off x="16527473" y="5976653"/>
                <a:ext cx="1129792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42" name="TextBox 12">
                <a:extLst>
                  <a:ext uri="{FF2B5EF4-FFF2-40B4-BE49-F238E27FC236}">
                    <a16:creationId xmlns:a16="http://schemas.microsoft.com/office/drawing/2014/main" id="{E38AB92A-604B-47BA-8FE2-43551AF72202}"/>
                  </a:ext>
                </a:extLst>
              </p:cNvPr>
              <p:cNvSpPr txBox="1"/>
              <p:nvPr/>
            </p:nvSpPr>
            <p:spPr>
              <a:xfrm>
                <a:off x="16783830" y="503839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43" name="TextBox 13">
                <a:extLst>
                  <a:ext uri="{FF2B5EF4-FFF2-40B4-BE49-F238E27FC236}">
                    <a16:creationId xmlns:a16="http://schemas.microsoft.com/office/drawing/2014/main" id="{F0C37148-E0F8-4C2D-89B4-48BBFE28C3B7}"/>
                  </a:ext>
                </a:extLst>
              </p:cNvPr>
              <p:cNvSpPr txBox="1"/>
              <p:nvPr/>
            </p:nvSpPr>
            <p:spPr>
              <a:xfrm>
                <a:off x="16497141" y="4069921"/>
                <a:ext cx="116302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44" name="Picture 14">
                <a:extLst>
                  <a:ext uri="{FF2B5EF4-FFF2-40B4-BE49-F238E27FC236}">
                    <a16:creationId xmlns:a16="http://schemas.microsoft.com/office/drawing/2014/main" id="{33E61C75-159C-4405-B96B-F83A2D5FB0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45" name="Picture 15">
                <a:extLst>
                  <a:ext uri="{FF2B5EF4-FFF2-40B4-BE49-F238E27FC236}">
                    <a16:creationId xmlns:a16="http://schemas.microsoft.com/office/drawing/2014/main" id="{EBA7E882-6462-45C3-B8CA-05724ACB3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46" name="Picture 16">
                <a:extLst>
                  <a:ext uri="{FF2B5EF4-FFF2-40B4-BE49-F238E27FC236}">
                    <a16:creationId xmlns:a16="http://schemas.microsoft.com/office/drawing/2014/main" id="{45C9F3DC-B518-4D7C-BF2E-C42131A9A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47" name="Picture 17">
                <a:extLst>
                  <a:ext uri="{FF2B5EF4-FFF2-40B4-BE49-F238E27FC236}">
                    <a16:creationId xmlns:a16="http://schemas.microsoft.com/office/drawing/2014/main" id="{7A2FB238-D518-4068-BD68-5DA818785D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48" name="TextBox 18">
                <a:extLst>
                  <a:ext uri="{FF2B5EF4-FFF2-40B4-BE49-F238E27FC236}">
                    <a16:creationId xmlns:a16="http://schemas.microsoft.com/office/drawing/2014/main" id="{1713E6C1-2871-495E-AD78-6A547EAA0E6C}"/>
                  </a:ext>
                </a:extLst>
              </p:cNvPr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49" name="TextBox 19">
                <a:extLst>
                  <a:ext uri="{FF2B5EF4-FFF2-40B4-BE49-F238E27FC236}">
                    <a16:creationId xmlns:a16="http://schemas.microsoft.com/office/drawing/2014/main" id="{43CFD0C2-A4D0-4E7B-BDC4-4EFE4FA09DAC}"/>
                  </a:ext>
                </a:extLst>
              </p:cNvPr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50" name="TextBox 20">
                <a:extLst>
                  <a:ext uri="{FF2B5EF4-FFF2-40B4-BE49-F238E27FC236}">
                    <a16:creationId xmlns:a16="http://schemas.microsoft.com/office/drawing/2014/main" id="{7F850E85-0EDC-41C4-BDAA-B84D257F1BD5}"/>
                  </a:ext>
                </a:extLst>
              </p:cNvPr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51" name="TextBox 21">
                <a:extLst>
                  <a:ext uri="{FF2B5EF4-FFF2-40B4-BE49-F238E27FC236}">
                    <a16:creationId xmlns:a16="http://schemas.microsoft.com/office/drawing/2014/main" id="{F7C02317-9CB1-42CB-96DA-A8695BBD9332}"/>
                  </a:ext>
                </a:extLst>
              </p:cNvPr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sp>
        <p:nvSpPr>
          <p:cNvPr id="5" name="TextBox 5"/>
          <p:cNvSpPr txBox="1"/>
          <p:nvPr/>
        </p:nvSpPr>
        <p:spPr>
          <a:xfrm>
            <a:off x="1021986" y="4176302"/>
            <a:ext cx="8960214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5000" b="0" i="0" u="none" strike="noStrike" spc="-187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학습률</a:t>
            </a:r>
            <a:r>
              <a:rPr lang="ko-KR" altLang="en-US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0.01</a:t>
            </a:r>
            <a:r>
              <a:rPr lang="ko-KR" altLang="en-US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일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때 정확도</a:t>
            </a: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  <a:r>
              <a:rPr lang="en-US" altLang="ko-KR" sz="5000" spc="-187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75%</a:t>
            </a:r>
            <a:endParaRPr lang="ko-KR" sz="5000" b="0" i="0" u="none" strike="noStrike" spc="-187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800" y="870237"/>
            <a:ext cx="8051800" cy="127818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solidFill>
                  <a:srgbClr val="333333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solidFill>
                  <a:srgbClr val="333333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ko-KR" altLang="en-US" sz="7000" b="0" i="0" u="none" strike="noStrike" spc="-133" dirty="0">
                <a:solidFill>
                  <a:srgbClr val="333333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수행 경과</a:t>
            </a:r>
            <a:endParaRPr lang="en-US" altLang="ko-KR" sz="7000" b="0" i="0" u="none" strike="noStrike" spc="-133" dirty="0">
              <a:solidFill>
                <a:srgbClr val="333333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5E42BDE1-D6AE-4649-BDFA-B9D5B9C44E92}"/>
              </a:ext>
            </a:extLst>
          </p:cNvPr>
          <p:cNvSpPr txBox="1"/>
          <p:nvPr/>
        </p:nvSpPr>
        <p:spPr>
          <a:xfrm>
            <a:off x="1378790" y="9220200"/>
            <a:ext cx="7664814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en-US" altLang="ko-KR" sz="5000" spc="-187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&lt;</a:t>
            </a:r>
            <a:r>
              <a:rPr lang="ko-KR" altLang="en-US" sz="5000" spc="-187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실제 테스트 결과</a:t>
            </a:r>
            <a:r>
              <a:rPr lang="en-US" altLang="ko-KR" sz="5000" spc="-187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&gt;</a:t>
            </a:r>
            <a:endParaRPr lang="ko-KR" sz="5000" b="0" i="0" u="none" strike="noStrike" spc="-187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A333B89-AA19-4D88-8291-0159D703381D}"/>
              </a:ext>
            </a:extLst>
          </p:cNvPr>
          <p:cNvSpPr txBox="1"/>
          <p:nvPr/>
        </p:nvSpPr>
        <p:spPr>
          <a:xfrm>
            <a:off x="1021424" y="9554217"/>
            <a:ext cx="9775530" cy="3831046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ko-KR" altLang="en-US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정확도는 높았지만</a:t>
            </a:r>
            <a:r>
              <a:rPr lang="en-US" altLang="ko-KR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모델의 </a:t>
            </a:r>
            <a:r>
              <a:rPr lang="ko-KR" altLang="en-US" sz="5000" spc="-153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정답률이</a:t>
            </a:r>
            <a:r>
              <a:rPr lang="ko-KR" altLang="en-US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좋지 않았음 </a:t>
            </a:r>
            <a:r>
              <a:rPr lang="en-US" altLang="ko-KR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→ </a:t>
            </a:r>
            <a:r>
              <a:rPr lang="ko-KR" altLang="en-US" sz="5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변경 필요</a:t>
            </a:r>
            <a:endParaRPr lang="en-US" altLang="ko-KR" sz="5000" b="0" i="0" u="none" strike="noStrike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D9C52F59-F502-4C51-BCDC-151B1BED2CCF}"/>
              </a:ext>
            </a:extLst>
          </p:cNvPr>
          <p:cNvSpPr txBox="1"/>
          <p:nvPr/>
        </p:nvSpPr>
        <p:spPr>
          <a:xfrm>
            <a:off x="1021986" y="5778323"/>
            <a:ext cx="9798414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b="0" i="0" u="none" strike="noStrike" spc="-187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학습률</a:t>
            </a:r>
            <a:r>
              <a:rPr lang="ko-KR" altLang="en-US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0.001</a:t>
            </a:r>
            <a:r>
              <a:rPr lang="ko-KR" altLang="en-US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일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때 정확도</a:t>
            </a: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  <a:r>
              <a:rPr lang="ko-KR" altLang="en-US" sz="5000" spc="-187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약 </a:t>
            </a:r>
            <a:r>
              <a:rPr lang="en-US" altLang="ko-KR" sz="5000" spc="-187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59%</a:t>
            </a:r>
            <a:endParaRPr lang="ko-KR" sz="5000" b="0" i="0" u="none" strike="noStrike" spc="-187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625B908E-2670-42D4-8C1D-EADC1DE22244}"/>
              </a:ext>
            </a:extLst>
          </p:cNvPr>
          <p:cNvSpPr txBox="1"/>
          <p:nvPr/>
        </p:nvSpPr>
        <p:spPr>
          <a:xfrm>
            <a:off x="1021986" y="7351660"/>
            <a:ext cx="10103214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3)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b="0" i="0" u="none" strike="noStrike" spc="-187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학습률</a:t>
            </a:r>
            <a:r>
              <a:rPr lang="ko-KR" altLang="en-US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0.0001</a:t>
            </a:r>
            <a:r>
              <a:rPr lang="ko-KR" altLang="en-US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일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때 정확도</a:t>
            </a: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  <a:r>
              <a:rPr lang="ko-KR" altLang="en-US" sz="5000" spc="-187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약 </a:t>
            </a:r>
            <a:r>
              <a:rPr lang="en-US" altLang="ko-KR" sz="5000" spc="-187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57%</a:t>
            </a:r>
            <a:endParaRPr lang="ko-KR" sz="5000" b="0" i="0" u="none" strike="noStrike" spc="-187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CDEA0BF-B99A-453E-9CE8-ABC14716E26D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394854" y="4266554"/>
            <a:ext cx="11944929" cy="84661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74A8680-6064-43C9-B534-39CFDCD2D30E}"/>
              </a:ext>
            </a:extLst>
          </p:cNvPr>
          <p:cNvSpPr txBox="1"/>
          <p:nvPr/>
        </p:nvSpPr>
        <p:spPr>
          <a:xfrm>
            <a:off x="549843" y="2730730"/>
            <a:ext cx="13506450" cy="1079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ko-KR" altLang="en-US" sz="6000" spc="-133" dirty="0" err="1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하이퍼파라미터</a:t>
            </a: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튜닝 결과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5458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816A0C0-D071-4B5B-A0DB-41BD989894AC}"/>
              </a:ext>
            </a:extLst>
          </p:cNvPr>
          <p:cNvGrpSpPr/>
          <p:nvPr/>
        </p:nvGrpSpPr>
        <p:grpSpPr>
          <a:xfrm>
            <a:off x="1021986" y="5588055"/>
            <a:ext cx="10352373" cy="2763158"/>
            <a:chOff x="1021986" y="5297100"/>
            <a:chExt cx="10352373" cy="2763158"/>
          </a:xfrm>
        </p:grpSpPr>
        <p:sp>
          <p:nvSpPr>
            <p:cNvPr id="5" name="TextBox 5"/>
            <p:cNvSpPr txBox="1"/>
            <p:nvPr/>
          </p:nvSpPr>
          <p:spPr>
            <a:xfrm>
              <a:off x="1021986" y="5297100"/>
              <a:ext cx="6438900" cy="6604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l">
                <a:lnSpc>
                  <a:spcPct val="170065"/>
                </a:lnSpc>
              </a:pPr>
              <a:r>
                <a:rPr lang="en-US" altLang="ko-KR" sz="5000" b="0" i="0" u="none" strike="noStrike" spc="-187" dirty="0"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1) </a:t>
              </a:r>
              <a:r>
                <a:rPr lang="ko-KR" altLang="en-US" sz="5000" b="0" i="0" u="none" strike="noStrike" spc="-187" dirty="0"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정확도 </a:t>
              </a:r>
              <a:r>
                <a:rPr lang="en-US" altLang="ko-KR" sz="5000" b="0" i="0" u="none" strike="noStrike" spc="-187" dirty="0"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80.45%</a:t>
              </a:r>
              <a:endParaRPr 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5034" y="6173509"/>
              <a:ext cx="10009325" cy="1886749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l">
                <a:lnSpc>
                  <a:spcPct val="155126"/>
                </a:lnSpc>
              </a:pPr>
              <a:r>
                <a:rPr lang="en-US" altLang="ko-KR" sz="5000" spc="-153" dirty="0"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   → </a:t>
              </a:r>
              <a:r>
                <a:rPr lang="ko-KR" altLang="en-US" sz="5000" spc="-153" dirty="0">
                  <a:latin typeface="Noto Sans KR ExtraBold" panose="020B0200000000000000" pitchFamily="50" charset="-127"/>
                  <a:ea typeface="Noto Sans KR ExtraBold" panose="020B0200000000000000" pitchFamily="50" charset="-127"/>
                </a:rPr>
                <a:t>준수한 정확도</a:t>
              </a:r>
              <a:endParaRPr lang="en-US" altLang="ko-KR" sz="5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F2B6E44-0724-4F34-A6CF-9619C9FABF04}"/>
              </a:ext>
            </a:extLst>
          </p:cNvPr>
          <p:cNvGrpSpPr/>
          <p:nvPr/>
        </p:nvGrpSpPr>
        <p:grpSpPr>
          <a:xfrm>
            <a:off x="17463654" y="-2286000"/>
            <a:ext cx="9550400" cy="8600698"/>
            <a:chOff x="15392400" y="-628650"/>
            <a:chExt cx="14122400" cy="146431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92400" y="-628650"/>
              <a:ext cx="14122400" cy="14643100"/>
            </a:xfrm>
            <a:prstGeom prst="rect">
              <a:avLst/>
            </a:prstGeom>
          </p:spPr>
        </p:pic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DAD482F-14B4-43B3-98D6-DE9E93ECDDE4}"/>
                </a:ext>
              </a:extLst>
            </p:cNvPr>
            <p:cNvGrpSpPr/>
            <p:nvPr/>
          </p:nvGrpSpPr>
          <p:grpSpPr>
            <a:xfrm>
              <a:off x="17776205" y="3924931"/>
              <a:ext cx="7623456" cy="5810007"/>
              <a:chOff x="16497141" y="4069921"/>
              <a:chExt cx="7623456" cy="5810007"/>
            </a:xfrm>
          </p:grpSpPr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8" name="TextBox 8"/>
              <p:cNvSpPr txBox="1"/>
              <p:nvPr/>
            </p:nvSpPr>
            <p:spPr>
              <a:xfrm>
                <a:off x="16783831" y="8920947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783831" y="798793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6783830" y="7485350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  <a:p>
                <a:pPr lvl="0" algn="r">
                  <a:lnSpc>
                    <a:spcPct val="155126"/>
                  </a:lnSpc>
                </a:pPr>
                <a:endParaRPr lang="en" sz="2399" b="0" i="0" u="none" strike="noStrike" spc="-120" dirty="0">
                  <a:solidFill>
                    <a:srgbClr val="F2F2F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527473" y="5976653"/>
                <a:ext cx="1129792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783830" y="5038397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497141" y="4069921"/>
                <a:ext cx="116302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14" name="Picture 1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15" name="Picture 15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16" name="Picture 1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17" name="Picture 1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18" name="TextBox 18"/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800" y="870237"/>
            <a:ext cx="8128000" cy="127818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5E42BDE1-D6AE-4649-BDFA-B9D5B9C44E92}"/>
              </a:ext>
            </a:extLst>
          </p:cNvPr>
          <p:cNvSpPr txBox="1"/>
          <p:nvPr/>
        </p:nvSpPr>
        <p:spPr>
          <a:xfrm>
            <a:off x="1021986" y="9858240"/>
            <a:ext cx="9569814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</a:t>
            </a:r>
            <a:r>
              <a:rPr lang="en-US" altLang="ko-KR" sz="5000" b="0" i="0" u="none" strike="noStrike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5000" spc="-187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ResNet</a:t>
            </a: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50 </a:t>
            </a:r>
            <a:r>
              <a:rPr lang="ko-KR" altLang="en-US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 또한 정확도만 </a:t>
            </a:r>
            <a:endParaRPr lang="en-US" altLang="ko-KR" sz="5000" spc="-187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70065"/>
              </a:lnSpc>
            </a:pP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높고</a:t>
            </a:r>
            <a:r>
              <a:rPr lang="en-US" altLang="ko-KR" sz="5000" spc="-187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5000" spc="-187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올바른 학습이 되지 않았다</a:t>
            </a:r>
            <a:r>
              <a:rPr lang="en-US" altLang="ko-KR" sz="5000" spc="-187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  <a:endParaRPr lang="ko-KR" sz="5000" b="0" i="0" u="none" strike="noStrike" spc="-187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68BE85A-41BF-4CDB-8238-7E3F0146EAC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879482" y="4550022"/>
            <a:ext cx="12954675" cy="86114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F25C233-75BC-458D-946B-6BF03341D5A0}"/>
              </a:ext>
            </a:extLst>
          </p:cNvPr>
          <p:cNvSpPr txBox="1"/>
          <p:nvPr/>
        </p:nvSpPr>
        <p:spPr>
          <a:xfrm>
            <a:off x="762000" y="3049704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6000" spc="-133" dirty="0" err="1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ResNet</a:t>
            </a:r>
            <a:r>
              <a:rPr lang="en-US" altLang="ko-KR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6000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50</a:t>
            </a:r>
            <a:r>
              <a:rPr lang="en-US" altLang="ko-KR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신경망으로 학습한 결과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6444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DF2B6E44-0724-4F34-A6CF-9619C9FABF04}"/>
              </a:ext>
            </a:extLst>
          </p:cNvPr>
          <p:cNvGrpSpPr/>
          <p:nvPr/>
        </p:nvGrpSpPr>
        <p:grpSpPr>
          <a:xfrm>
            <a:off x="17443992" y="-2178124"/>
            <a:ext cx="9550400" cy="8600698"/>
            <a:chOff x="15492334" y="-634231"/>
            <a:chExt cx="14122400" cy="146431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92334" y="-634231"/>
              <a:ext cx="14122400" cy="14643100"/>
            </a:xfrm>
            <a:prstGeom prst="rect">
              <a:avLst/>
            </a:prstGeom>
          </p:spPr>
        </p:pic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DAD482F-14B4-43B3-98D6-DE9E93ECDDE4}"/>
                </a:ext>
              </a:extLst>
            </p:cNvPr>
            <p:cNvGrpSpPr/>
            <p:nvPr/>
          </p:nvGrpSpPr>
          <p:grpSpPr>
            <a:xfrm>
              <a:off x="17864623" y="3926768"/>
              <a:ext cx="7535038" cy="5808170"/>
              <a:chOff x="16585559" y="4071758"/>
              <a:chExt cx="7535038" cy="5808170"/>
            </a:xfrm>
          </p:grpSpPr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8" name="TextBox 8"/>
              <p:cNvSpPr txBox="1"/>
              <p:nvPr/>
            </p:nvSpPr>
            <p:spPr>
              <a:xfrm>
                <a:off x="17068461" y="8954426"/>
                <a:ext cx="520591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738773" y="7922343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6585559" y="6990628"/>
                <a:ext cx="97500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698238" y="6035557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698238" y="5038820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92601" y="4071758"/>
                <a:ext cx="97500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14" name="Picture 1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15" name="Picture 15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16" name="Picture 1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17" name="Picture 1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18" name="TextBox 18"/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799" y="870236"/>
            <a:ext cx="8089901" cy="12519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110853-26DE-4B16-B672-60FA258C2583}"/>
              </a:ext>
            </a:extLst>
          </p:cNvPr>
          <p:cNvSpPr txBox="1"/>
          <p:nvPr/>
        </p:nvSpPr>
        <p:spPr>
          <a:xfrm>
            <a:off x="2164808" y="5612544"/>
            <a:ext cx="80899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87.83%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→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높은 정확도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74959C-DD24-4689-B895-8A60C980FFF8}"/>
              </a:ext>
            </a:extLst>
          </p:cNvPr>
          <p:cNvSpPr txBox="1"/>
          <p:nvPr/>
        </p:nvSpPr>
        <p:spPr>
          <a:xfrm>
            <a:off x="10851608" y="5612544"/>
            <a:ext cx="9197874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가장 이상적인 정확도가 나왔으며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실제 테스트 결과 </a:t>
            </a:r>
            <a:r>
              <a:rPr lang="ko-KR" altLang="en-US" sz="4500" dirty="0" err="1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정답률도</a:t>
            </a:r>
            <a:r>
              <a:rPr lang="ko-KR" altLang="en-US" sz="45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좋았다</a:t>
            </a:r>
            <a:r>
              <a:rPr lang="en-US" altLang="ko-KR" sz="45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E19000F-E3CB-42AC-833D-65C8083C9A71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657122" y="8569325"/>
            <a:ext cx="21069755" cy="37386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947EB13-459C-4B8E-B95F-3FCA0BE22BB0}"/>
              </a:ext>
            </a:extLst>
          </p:cNvPr>
          <p:cNvSpPr txBox="1"/>
          <p:nvPr/>
        </p:nvSpPr>
        <p:spPr>
          <a:xfrm>
            <a:off x="1447800" y="3790605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6000" spc="-133" dirty="0" err="1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ResNet</a:t>
            </a:r>
            <a:r>
              <a:rPr lang="en-US" altLang="ko-KR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6000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50</a:t>
            </a:r>
            <a:r>
              <a:rPr lang="en-US" altLang="ko-KR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신경망을 </a:t>
            </a:r>
            <a:r>
              <a:rPr lang="en-US" altLang="ko-KR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Fine-tuning </a:t>
            </a: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한 결과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7635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68542" y="4880056"/>
            <a:ext cx="8974191" cy="1684996"/>
          </a:xfrm>
          <a:prstGeom prst="rect">
            <a:avLst/>
          </a:prstGeom>
        </p:spPr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사용자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(</a:t>
            </a:r>
            <a:r>
              <a:rPr lang="en-US" altLang="ko-KR" sz="54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users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)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테이블 설계</a:t>
            </a:r>
            <a:endParaRPr lang="en-US" altLang="ko-KR" sz="54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800" y="870237"/>
            <a:ext cx="10871200" cy="127818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9121C65F-FC2A-4235-9281-4AD9B93CD971}"/>
              </a:ext>
            </a:extLst>
          </p:cNvPr>
          <p:cNvSpPr txBox="1"/>
          <p:nvPr/>
        </p:nvSpPr>
        <p:spPr>
          <a:xfrm>
            <a:off x="11488622" y="4692812"/>
            <a:ext cx="12514378" cy="2092882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해킹 방지를 위해 </a:t>
            </a:r>
            <a:r>
              <a:rPr lang="en-US" altLang="ko-KR" sz="5400" dirty="0" err="1">
                <a:solidFill>
                  <a:srgbClr val="FF0000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Bcrypt</a:t>
            </a:r>
            <a:r>
              <a:rPr lang="en-US" altLang="ko-KR" sz="54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4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활용</a:t>
            </a:r>
            <a:endParaRPr lang="en-US" altLang="ko-KR" sz="5400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E2333D-B2DF-4B1B-B03B-C9CADB724DEE}"/>
              </a:ext>
            </a:extLst>
          </p:cNvPr>
          <p:cNvSpPr txBox="1"/>
          <p:nvPr/>
        </p:nvSpPr>
        <p:spPr>
          <a:xfrm>
            <a:off x="755664" y="3155179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데이터베이스 구축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92FB10-D090-4375-B87A-7F6CDA696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570" y="7150949"/>
            <a:ext cx="19142103" cy="5523864"/>
          </a:xfrm>
          <a:prstGeom prst="rect">
            <a:avLst/>
          </a:prstGeom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id="{DF166ABC-2DE2-4DEC-A97F-D7B6019236A3}"/>
              </a:ext>
            </a:extLst>
          </p:cNvPr>
          <p:cNvGrpSpPr/>
          <p:nvPr/>
        </p:nvGrpSpPr>
        <p:grpSpPr>
          <a:xfrm>
            <a:off x="18853136" y="-2791019"/>
            <a:ext cx="9550400" cy="8600698"/>
            <a:chOff x="15492334" y="-634231"/>
            <a:chExt cx="14122400" cy="14643100"/>
          </a:xfrm>
        </p:grpSpPr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038B987C-98E8-406C-8524-5CA217081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92334" y="-634231"/>
              <a:ext cx="14122400" cy="14643100"/>
            </a:xfrm>
            <a:prstGeom prst="rect">
              <a:avLst/>
            </a:prstGeom>
          </p:spPr>
        </p:pic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60402B54-7429-411D-918F-923132C15DEA}"/>
                </a:ext>
              </a:extLst>
            </p:cNvPr>
            <p:cNvGrpSpPr/>
            <p:nvPr/>
          </p:nvGrpSpPr>
          <p:grpSpPr>
            <a:xfrm>
              <a:off x="17864623" y="3926768"/>
              <a:ext cx="7535038" cy="5808170"/>
              <a:chOff x="16585559" y="4071758"/>
              <a:chExt cx="7535038" cy="5808170"/>
            </a:xfrm>
          </p:grpSpPr>
          <p:pic>
            <p:nvPicPr>
              <p:cNvPr id="48" name="Picture 7">
                <a:extLst>
                  <a:ext uri="{FF2B5EF4-FFF2-40B4-BE49-F238E27FC236}">
                    <a16:creationId xmlns:a16="http://schemas.microsoft.com/office/drawing/2014/main" id="{BA19F144-FE8F-4F7C-B03E-161EBA193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49" name="TextBox 8">
                <a:extLst>
                  <a:ext uri="{FF2B5EF4-FFF2-40B4-BE49-F238E27FC236}">
                    <a16:creationId xmlns:a16="http://schemas.microsoft.com/office/drawing/2014/main" id="{1B2184E2-5495-409B-A026-D161B66CD50E}"/>
                  </a:ext>
                </a:extLst>
              </p:cNvPr>
              <p:cNvSpPr txBox="1"/>
              <p:nvPr/>
            </p:nvSpPr>
            <p:spPr>
              <a:xfrm>
                <a:off x="17068461" y="8954426"/>
                <a:ext cx="520591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69" name="TextBox 9">
                <a:extLst>
                  <a:ext uri="{FF2B5EF4-FFF2-40B4-BE49-F238E27FC236}">
                    <a16:creationId xmlns:a16="http://schemas.microsoft.com/office/drawing/2014/main" id="{7DEC1075-6A94-4BBF-8842-9CAD92FF694F}"/>
                  </a:ext>
                </a:extLst>
              </p:cNvPr>
              <p:cNvSpPr txBox="1"/>
              <p:nvPr/>
            </p:nvSpPr>
            <p:spPr>
              <a:xfrm>
                <a:off x="16738773" y="7922343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70" name="TextBox 10">
                <a:extLst>
                  <a:ext uri="{FF2B5EF4-FFF2-40B4-BE49-F238E27FC236}">
                    <a16:creationId xmlns:a16="http://schemas.microsoft.com/office/drawing/2014/main" id="{B243513A-4F04-4DBC-8F67-300278B9134C}"/>
                  </a:ext>
                </a:extLst>
              </p:cNvPr>
              <p:cNvSpPr txBox="1"/>
              <p:nvPr/>
            </p:nvSpPr>
            <p:spPr>
              <a:xfrm>
                <a:off x="16585559" y="6990628"/>
                <a:ext cx="97500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</p:txBody>
          </p:sp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0E09FE16-171D-496C-A4AC-018C720F16DC}"/>
                  </a:ext>
                </a:extLst>
              </p:cNvPr>
              <p:cNvSpPr txBox="1"/>
              <p:nvPr/>
            </p:nvSpPr>
            <p:spPr>
              <a:xfrm>
                <a:off x="16698238" y="6035557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72" name="TextBox 12">
                <a:extLst>
                  <a:ext uri="{FF2B5EF4-FFF2-40B4-BE49-F238E27FC236}">
                    <a16:creationId xmlns:a16="http://schemas.microsoft.com/office/drawing/2014/main" id="{BD122994-938F-4CED-AF37-41E38F78E2EF}"/>
                  </a:ext>
                </a:extLst>
              </p:cNvPr>
              <p:cNvSpPr txBox="1"/>
              <p:nvPr/>
            </p:nvSpPr>
            <p:spPr>
              <a:xfrm>
                <a:off x="16698238" y="5038820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73" name="TextBox 13">
                <a:extLst>
                  <a:ext uri="{FF2B5EF4-FFF2-40B4-BE49-F238E27FC236}">
                    <a16:creationId xmlns:a16="http://schemas.microsoft.com/office/drawing/2014/main" id="{7BD3CF78-3D3D-4D05-B807-D09F646E3255}"/>
                  </a:ext>
                </a:extLst>
              </p:cNvPr>
              <p:cNvSpPr txBox="1"/>
              <p:nvPr/>
            </p:nvSpPr>
            <p:spPr>
              <a:xfrm>
                <a:off x="16592601" y="4071758"/>
                <a:ext cx="97500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74" name="Picture 14">
                <a:extLst>
                  <a:ext uri="{FF2B5EF4-FFF2-40B4-BE49-F238E27FC236}">
                    <a16:creationId xmlns:a16="http://schemas.microsoft.com/office/drawing/2014/main" id="{C22F779A-444E-406F-A9B8-F5FFC63DD5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75" name="Picture 15">
                <a:extLst>
                  <a:ext uri="{FF2B5EF4-FFF2-40B4-BE49-F238E27FC236}">
                    <a16:creationId xmlns:a16="http://schemas.microsoft.com/office/drawing/2014/main" id="{C158FD55-98E2-4320-B15C-D8A3AD879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76" name="Picture 16">
                <a:extLst>
                  <a:ext uri="{FF2B5EF4-FFF2-40B4-BE49-F238E27FC236}">
                    <a16:creationId xmlns:a16="http://schemas.microsoft.com/office/drawing/2014/main" id="{4DEF8123-A814-4E71-8F2A-4A3669BED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77" name="Picture 17">
                <a:extLst>
                  <a:ext uri="{FF2B5EF4-FFF2-40B4-BE49-F238E27FC236}">
                    <a16:creationId xmlns:a16="http://schemas.microsoft.com/office/drawing/2014/main" id="{1E403D4C-9E84-4751-ACD6-A4C8A4AF6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78" name="TextBox 18">
                <a:extLst>
                  <a:ext uri="{FF2B5EF4-FFF2-40B4-BE49-F238E27FC236}">
                    <a16:creationId xmlns:a16="http://schemas.microsoft.com/office/drawing/2014/main" id="{ABDB97AA-09F9-4B1E-BF50-64FA6AB794AF}"/>
                  </a:ext>
                </a:extLst>
              </p:cNvPr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79" name="TextBox 19">
                <a:extLst>
                  <a:ext uri="{FF2B5EF4-FFF2-40B4-BE49-F238E27FC236}">
                    <a16:creationId xmlns:a16="http://schemas.microsoft.com/office/drawing/2014/main" id="{A8082204-6D60-4BE6-829E-E3DA8237D3B3}"/>
                  </a:ext>
                </a:extLst>
              </p:cNvPr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80" name="TextBox 20">
                <a:extLst>
                  <a:ext uri="{FF2B5EF4-FFF2-40B4-BE49-F238E27FC236}">
                    <a16:creationId xmlns:a16="http://schemas.microsoft.com/office/drawing/2014/main" id="{29F6D423-CBB1-4504-A26B-B9BA0B229848}"/>
                  </a:ext>
                </a:extLst>
              </p:cNvPr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81" name="TextBox 21">
                <a:extLst>
                  <a:ext uri="{FF2B5EF4-FFF2-40B4-BE49-F238E27FC236}">
                    <a16:creationId xmlns:a16="http://schemas.microsoft.com/office/drawing/2014/main" id="{E7584FC6-6AC2-47B2-9A5A-A4B3D0ECF327}"/>
                  </a:ext>
                </a:extLst>
              </p:cNvPr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8682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800" y="870237"/>
            <a:ext cx="10871200" cy="127818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E2333D-B2DF-4B1B-B03B-C9CADB724DEE}"/>
              </a:ext>
            </a:extLst>
          </p:cNvPr>
          <p:cNvSpPr txBox="1"/>
          <p:nvPr/>
        </p:nvSpPr>
        <p:spPr>
          <a:xfrm>
            <a:off x="755664" y="3155179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ko-KR" altLang="en-US" sz="6000" b="0" i="0" u="none" strike="noStrike" spc="-133" dirty="0" err="1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백엔드</a:t>
            </a:r>
            <a:r>
              <a:rPr lang="ko-KR" altLang="en-US" sz="6000" b="0" i="0" u="none" strike="noStrike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6000" b="0" i="0" u="none" strike="noStrike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API </a:t>
            </a:r>
            <a:r>
              <a:rPr lang="ko-KR" altLang="en-US" sz="6000" b="0" i="0" u="none" strike="noStrike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개발 및 </a:t>
            </a:r>
            <a:r>
              <a:rPr lang="en-US" altLang="ko-KR" sz="6000" b="0" i="0" u="none" strike="noStrike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DB</a:t>
            </a:r>
            <a:r>
              <a:rPr lang="en-US" altLang="ko-KR" sz="6000" b="0" i="0" u="none" strike="noStrike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6000" b="0" i="0" u="none" strike="noStrike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연동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F166ABC-2DE2-4DEC-A97F-D7B6019236A3}"/>
              </a:ext>
            </a:extLst>
          </p:cNvPr>
          <p:cNvGrpSpPr/>
          <p:nvPr/>
        </p:nvGrpSpPr>
        <p:grpSpPr>
          <a:xfrm>
            <a:off x="18853136" y="-2791019"/>
            <a:ext cx="9550400" cy="8600698"/>
            <a:chOff x="15492334" y="-634231"/>
            <a:chExt cx="14122400" cy="14643100"/>
          </a:xfrm>
        </p:grpSpPr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038B987C-98E8-406C-8524-5CA217081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92334" y="-634231"/>
              <a:ext cx="14122400" cy="14643100"/>
            </a:xfrm>
            <a:prstGeom prst="rect">
              <a:avLst/>
            </a:prstGeom>
          </p:spPr>
        </p:pic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60402B54-7429-411D-918F-923132C15DEA}"/>
                </a:ext>
              </a:extLst>
            </p:cNvPr>
            <p:cNvGrpSpPr/>
            <p:nvPr/>
          </p:nvGrpSpPr>
          <p:grpSpPr>
            <a:xfrm>
              <a:off x="17864623" y="3926768"/>
              <a:ext cx="7535038" cy="5808170"/>
              <a:chOff x="16585559" y="4071758"/>
              <a:chExt cx="7535038" cy="5808170"/>
            </a:xfrm>
          </p:grpSpPr>
          <p:pic>
            <p:nvPicPr>
              <p:cNvPr id="48" name="Picture 7">
                <a:extLst>
                  <a:ext uri="{FF2B5EF4-FFF2-40B4-BE49-F238E27FC236}">
                    <a16:creationId xmlns:a16="http://schemas.microsoft.com/office/drawing/2014/main" id="{BA19F144-FE8F-4F7C-B03E-161EBA193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49" name="TextBox 8">
                <a:extLst>
                  <a:ext uri="{FF2B5EF4-FFF2-40B4-BE49-F238E27FC236}">
                    <a16:creationId xmlns:a16="http://schemas.microsoft.com/office/drawing/2014/main" id="{1B2184E2-5495-409B-A026-D161B66CD50E}"/>
                  </a:ext>
                </a:extLst>
              </p:cNvPr>
              <p:cNvSpPr txBox="1"/>
              <p:nvPr/>
            </p:nvSpPr>
            <p:spPr>
              <a:xfrm>
                <a:off x="17068461" y="8954426"/>
                <a:ext cx="520591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69" name="TextBox 9">
                <a:extLst>
                  <a:ext uri="{FF2B5EF4-FFF2-40B4-BE49-F238E27FC236}">
                    <a16:creationId xmlns:a16="http://schemas.microsoft.com/office/drawing/2014/main" id="{7DEC1075-6A94-4BBF-8842-9CAD92FF694F}"/>
                  </a:ext>
                </a:extLst>
              </p:cNvPr>
              <p:cNvSpPr txBox="1"/>
              <p:nvPr/>
            </p:nvSpPr>
            <p:spPr>
              <a:xfrm>
                <a:off x="16738773" y="7922343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70" name="TextBox 10">
                <a:extLst>
                  <a:ext uri="{FF2B5EF4-FFF2-40B4-BE49-F238E27FC236}">
                    <a16:creationId xmlns:a16="http://schemas.microsoft.com/office/drawing/2014/main" id="{B243513A-4F04-4DBC-8F67-300278B9134C}"/>
                  </a:ext>
                </a:extLst>
              </p:cNvPr>
              <p:cNvSpPr txBox="1"/>
              <p:nvPr/>
            </p:nvSpPr>
            <p:spPr>
              <a:xfrm>
                <a:off x="16585559" y="6990628"/>
                <a:ext cx="97500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</p:txBody>
          </p:sp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0E09FE16-171D-496C-A4AC-018C720F16DC}"/>
                  </a:ext>
                </a:extLst>
              </p:cNvPr>
              <p:cNvSpPr txBox="1"/>
              <p:nvPr/>
            </p:nvSpPr>
            <p:spPr>
              <a:xfrm>
                <a:off x="16698238" y="6035557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72" name="TextBox 12">
                <a:extLst>
                  <a:ext uri="{FF2B5EF4-FFF2-40B4-BE49-F238E27FC236}">
                    <a16:creationId xmlns:a16="http://schemas.microsoft.com/office/drawing/2014/main" id="{BD122994-938F-4CED-AF37-41E38F78E2EF}"/>
                  </a:ext>
                </a:extLst>
              </p:cNvPr>
              <p:cNvSpPr txBox="1"/>
              <p:nvPr/>
            </p:nvSpPr>
            <p:spPr>
              <a:xfrm>
                <a:off x="16698238" y="5038820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73" name="TextBox 13">
                <a:extLst>
                  <a:ext uri="{FF2B5EF4-FFF2-40B4-BE49-F238E27FC236}">
                    <a16:creationId xmlns:a16="http://schemas.microsoft.com/office/drawing/2014/main" id="{7BD3CF78-3D3D-4D05-B807-D09F646E3255}"/>
                  </a:ext>
                </a:extLst>
              </p:cNvPr>
              <p:cNvSpPr txBox="1"/>
              <p:nvPr/>
            </p:nvSpPr>
            <p:spPr>
              <a:xfrm>
                <a:off x="16592601" y="4071758"/>
                <a:ext cx="97500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74" name="Picture 14">
                <a:extLst>
                  <a:ext uri="{FF2B5EF4-FFF2-40B4-BE49-F238E27FC236}">
                    <a16:creationId xmlns:a16="http://schemas.microsoft.com/office/drawing/2014/main" id="{C22F779A-444E-406F-A9B8-F5FFC63DD5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75" name="Picture 15">
                <a:extLst>
                  <a:ext uri="{FF2B5EF4-FFF2-40B4-BE49-F238E27FC236}">
                    <a16:creationId xmlns:a16="http://schemas.microsoft.com/office/drawing/2014/main" id="{C158FD55-98E2-4320-B15C-D8A3AD879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76" name="Picture 16">
                <a:extLst>
                  <a:ext uri="{FF2B5EF4-FFF2-40B4-BE49-F238E27FC236}">
                    <a16:creationId xmlns:a16="http://schemas.microsoft.com/office/drawing/2014/main" id="{4DEF8123-A814-4E71-8F2A-4A3669BED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77" name="Picture 17">
                <a:extLst>
                  <a:ext uri="{FF2B5EF4-FFF2-40B4-BE49-F238E27FC236}">
                    <a16:creationId xmlns:a16="http://schemas.microsoft.com/office/drawing/2014/main" id="{1E403D4C-9E84-4751-ACD6-A4C8A4AF6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78" name="TextBox 18">
                <a:extLst>
                  <a:ext uri="{FF2B5EF4-FFF2-40B4-BE49-F238E27FC236}">
                    <a16:creationId xmlns:a16="http://schemas.microsoft.com/office/drawing/2014/main" id="{ABDB97AA-09F9-4B1E-BF50-64FA6AB794AF}"/>
                  </a:ext>
                </a:extLst>
              </p:cNvPr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79" name="TextBox 19">
                <a:extLst>
                  <a:ext uri="{FF2B5EF4-FFF2-40B4-BE49-F238E27FC236}">
                    <a16:creationId xmlns:a16="http://schemas.microsoft.com/office/drawing/2014/main" id="{A8082204-6D60-4BE6-829E-E3DA8237D3B3}"/>
                  </a:ext>
                </a:extLst>
              </p:cNvPr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80" name="TextBox 20">
                <a:extLst>
                  <a:ext uri="{FF2B5EF4-FFF2-40B4-BE49-F238E27FC236}">
                    <a16:creationId xmlns:a16="http://schemas.microsoft.com/office/drawing/2014/main" id="{29F6D423-CBB1-4504-A26B-B9BA0B229848}"/>
                  </a:ext>
                </a:extLst>
              </p:cNvPr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81" name="TextBox 21">
                <a:extLst>
                  <a:ext uri="{FF2B5EF4-FFF2-40B4-BE49-F238E27FC236}">
                    <a16:creationId xmlns:a16="http://schemas.microsoft.com/office/drawing/2014/main" id="{E7584FC6-6AC2-47B2-9A5A-A4B3D0ECF327}"/>
                  </a:ext>
                </a:extLst>
              </p:cNvPr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EB263C9-60FE-4DD8-A2FC-B47C6F3FAF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3237" y="4510598"/>
            <a:ext cx="11398236" cy="8600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4EAAB5F-9E25-4ABC-8D38-B0E64F8FAA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351" y="4510597"/>
            <a:ext cx="11413523" cy="8600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3849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15D58137-8E58-442D-9F55-FB87634BF035}"/>
              </a:ext>
            </a:extLst>
          </p:cNvPr>
          <p:cNvGrpSpPr/>
          <p:nvPr/>
        </p:nvGrpSpPr>
        <p:grpSpPr>
          <a:xfrm>
            <a:off x="18853136" y="-2791019"/>
            <a:ext cx="9550400" cy="8600698"/>
            <a:chOff x="15492334" y="-634231"/>
            <a:chExt cx="14122400" cy="146431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020895C6-3D8D-4BC3-ACAA-4938513D0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92334" y="-634231"/>
              <a:ext cx="14122400" cy="14643100"/>
            </a:xfrm>
            <a:prstGeom prst="rect">
              <a:avLst/>
            </a:prstGeom>
          </p:spPr>
        </p:pic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90188DF-A375-4C98-9A09-570FF62D9A2F}"/>
                </a:ext>
              </a:extLst>
            </p:cNvPr>
            <p:cNvGrpSpPr/>
            <p:nvPr/>
          </p:nvGrpSpPr>
          <p:grpSpPr>
            <a:xfrm>
              <a:off x="17864623" y="3926768"/>
              <a:ext cx="7535038" cy="5808170"/>
              <a:chOff x="16585559" y="4071758"/>
              <a:chExt cx="7535038" cy="5808170"/>
            </a:xfrm>
          </p:grpSpPr>
          <p:pic>
            <p:nvPicPr>
              <p:cNvPr id="33" name="Picture 7">
                <a:extLst>
                  <a:ext uri="{FF2B5EF4-FFF2-40B4-BE49-F238E27FC236}">
                    <a16:creationId xmlns:a16="http://schemas.microsoft.com/office/drawing/2014/main" id="{E16A3306-D94B-40C7-A595-795493E189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629831" y="4344262"/>
                <a:ext cx="6490766" cy="4904003"/>
              </a:xfrm>
              <a:prstGeom prst="rect">
                <a:avLst/>
              </a:prstGeom>
            </p:spPr>
          </p:pic>
          <p:sp>
            <p:nvSpPr>
              <p:cNvPr id="34" name="TextBox 8">
                <a:extLst>
                  <a:ext uri="{FF2B5EF4-FFF2-40B4-BE49-F238E27FC236}">
                    <a16:creationId xmlns:a16="http://schemas.microsoft.com/office/drawing/2014/main" id="{F1CB6B00-E358-41BE-8A47-241D73941E5B}"/>
                  </a:ext>
                </a:extLst>
              </p:cNvPr>
              <p:cNvSpPr txBox="1"/>
              <p:nvPr/>
            </p:nvSpPr>
            <p:spPr>
              <a:xfrm>
                <a:off x="17068461" y="8954426"/>
                <a:ext cx="520591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35" name="TextBox 9">
                <a:extLst>
                  <a:ext uri="{FF2B5EF4-FFF2-40B4-BE49-F238E27FC236}">
                    <a16:creationId xmlns:a16="http://schemas.microsoft.com/office/drawing/2014/main" id="{6454E151-E08C-4398-AAB3-E3CACF7048DC}"/>
                  </a:ext>
                </a:extLst>
              </p:cNvPr>
              <p:cNvSpPr txBox="1"/>
              <p:nvPr/>
            </p:nvSpPr>
            <p:spPr>
              <a:xfrm>
                <a:off x="16738773" y="7922343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36" name="TextBox 10">
                <a:extLst>
                  <a:ext uri="{FF2B5EF4-FFF2-40B4-BE49-F238E27FC236}">
                    <a16:creationId xmlns:a16="http://schemas.microsoft.com/office/drawing/2014/main" id="{DFB9E65C-C74D-44CE-8695-8D09C7E72D75}"/>
                  </a:ext>
                </a:extLst>
              </p:cNvPr>
              <p:cNvSpPr txBox="1"/>
              <p:nvPr/>
            </p:nvSpPr>
            <p:spPr>
              <a:xfrm>
                <a:off x="16585559" y="6990628"/>
                <a:ext cx="97500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</p:txBody>
          </p:sp>
          <p:sp>
            <p:nvSpPr>
              <p:cNvPr id="37" name="TextBox 11">
                <a:extLst>
                  <a:ext uri="{FF2B5EF4-FFF2-40B4-BE49-F238E27FC236}">
                    <a16:creationId xmlns:a16="http://schemas.microsoft.com/office/drawing/2014/main" id="{E8CA4A9F-7053-41E9-81E6-19A0604485F9}"/>
                  </a:ext>
                </a:extLst>
              </p:cNvPr>
              <p:cNvSpPr txBox="1"/>
              <p:nvPr/>
            </p:nvSpPr>
            <p:spPr>
              <a:xfrm>
                <a:off x="16698238" y="6035557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38" name="TextBox 12">
                <a:extLst>
                  <a:ext uri="{FF2B5EF4-FFF2-40B4-BE49-F238E27FC236}">
                    <a16:creationId xmlns:a16="http://schemas.microsoft.com/office/drawing/2014/main" id="{1D1E88EB-C9A8-4757-AA68-2C87DC0631EA}"/>
                  </a:ext>
                </a:extLst>
              </p:cNvPr>
              <p:cNvSpPr txBox="1"/>
              <p:nvPr/>
            </p:nvSpPr>
            <p:spPr>
              <a:xfrm>
                <a:off x="16698238" y="5038820"/>
                <a:ext cx="862329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39" name="TextBox 13">
                <a:extLst>
                  <a:ext uri="{FF2B5EF4-FFF2-40B4-BE49-F238E27FC236}">
                    <a16:creationId xmlns:a16="http://schemas.microsoft.com/office/drawing/2014/main" id="{04EF9D05-8C42-48F4-9046-EB08B8721EC8}"/>
                  </a:ext>
                </a:extLst>
              </p:cNvPr>
              <p:cNvSpPr txBox="1"/>
              <p:nvPr/>
            </p:nvSpPr>
            <p:spPr>
              <a:xfrm>
                <a:off x="16592601" y="4071758"/>
                <a:ext cx="97500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40" name="Picture 14">
                <a:extLst>
                  <a:ext uri="{FF2B5EF4-FFF2-40B4-BE49-F238E27FC236}">
                    <a16:creationId xmlns:a16="http://schemas.microsoft.com/office/drawing/2014/main" id="{158C67AE-F366-4A1A-9A17-A21A22E474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8095040" y="6583795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41" name="Picture 15">
                <a:extLst>
                  <a:ext uri="{FF2B5EF4-FFF2-40B4-BE49-F238E27FC236}">
                    <a16:creationId xmlns:a16="http://schemas.microsoft.com/office/drawing/2014/main" id="{40A60F7B-50D3-41D7-AE97-0BB44EE0D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656811" y="5768375"/>
                <a:ext cx="764271" cy="3433951"/>
              </a:xfrm>
              <a:prstGeom prst="rect">
                <a:avLst/>
              </a:prstGeom>
            </p:spPr>
          </p:pic>
          <p:pic>
            <p:nvPicPr>
              <p:cNvPr id="42" name="Picture 16">
                <a:extLst>
                  <a:ext uri="{FF2B5EF4-FFF2-40B4-BE49-F238E27FC236}">
                    <a16:creationId xmlns:a16="http://schemas.microsoft.com/office/drawing/2014/main" id="{C7D45D03-3C4F-4520-A4F6-C58D6B80CC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1207506" y="4723259"/>
                <a:ext cx="764271" cy="4479066"/>
              </a:xfrm>
              <a:prstGeom prst="rect">
                <a:avLst/>
              </a:prstGeom>
            </p:spPr>
          </p:pic>
          <p:pic>
            <p:nvPicPr>
              <p:cNvPr id="43" name="Picture 17">
                <a:extLst>
                  <a:ext uri="{FF2B5EF4-FFF2-40B4-BE49-F238E27FC236}">
                    <a16:creationId xmlns:a16="http://schemas.microsoft.com/office/drawing/2014/main" id="{7B90D9EC-416B-4EEC-8D15-8A198D787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769277" y="5733921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44" name="TextBox 18">
                <a:extLst>
                  <a:ext uri="{FF2B5EF4-FFF2-40B4-BE49-F238E27FC236}">
                    <a16:creationId xmlns:a16="http://schemas.microsoft.com/office/drawing/2014/main" id="{6DCDD02C-A0B4-4743-A68D-2EF1226A628B}"/>
                  </a:ext>
                </a:extLst>
              </p:cNvPr>
              <p:cNvSpPr txBox="1"/>
              <p:nvPr/>
            </p:nvSpPr>
            <p:spPr>
              <a:xfrm>
                <a:off x="18128269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51" name="TextBox 19">
                <a:extLst>
                  <a:ext uri="{FF2B5EF4-FFF2-40B4-BE49-F238E27FC236}">
                    <a16:creationId xmlns:a16="http://schemas.microsoft.com/office/drawing/2014/main" id="{B7B1F152-653F-4192-BFBF-8F22B7CAEF34}"/>
                  </a:ext>
                </a:extLst>
              </p:cNvPr>
              <p:cNvSpPr txBox="1"/>
              <p:nvPr/>
            </p:nvSpPr>
            <p:spPr>
              <a:xfrm>
                <a:off x="19678964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52" name="TextBox 20">
                <a:extLst>
                  <a:ext uri="{FF2B5EF4-FFF2-40B4-BE49-F238E27FC236}">
                    <a16:creationId xmlns:a16="http://schemas.microsoft.com/office/drawing/2014/main" id="{D19D4A70-F4B7-4B02-A246-9E53CC106BEE}"/>
                  </a:ext>
                </a:extLst>
              </p:cNvPr>
              <p:cNvSpPr txBox="1"/>
              <p:nvPr/>
            </p:nvSpPr>
            <p:spPr>
              <a:xfrm>
                <a:off x="21240735" y="9374597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53" name="TextBox 21">
                <a:extLst>
                  <a:ext uri="{FF2B5EF4-FFF2-40B4-BE49-F238E27FC236}">
                    <a16:creationId xmlns:a16="http://schemas.microsoft.com/office/drawing/2014/main" id="{EB2CB322-1687-4E91-92FE-C517CF9CB7DE}"/>
                  </a:ext>
                </a:extLst>
              </p:cNvPr>
              <p:cNvSpPr txBox="1"/>
              <p:nvPr/>
            </p:nvSpPr>
            <p:spPr>
              <a:xfrm>
                <a:off x="22802506" y="9386082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sp>
        <p:nvSpPr>
          <p:cNvPr id="5" name="TextBox 5"/>
          <p:cNvSpPr txBox="1"/>
          <p:nvPr/>
        </p:nvSpPr>
        <p:spPr>
          <a:xfrm>
            <a:off x="668542" y="6180762"/>
            <a:ext cx="10820080" cy="1684996"/>
          </a:xfrm>
          <a:prstGeom prst="rect">
            <a:avLst/>
          </a:prstGeom>
        </p:spPr>
        <p:txBody>
          <a:bodyPr rtlCol="0" anchor="ctr"/>
          <a:lstStyle/>
          <a:p>
            <a:pPr marL="914400" indent="-914400">
              <a:lnSpc>
                <a:spcPct val="150000"/>
              </a:lnSpc>
              <a:buAutoNum type="arabicParenR"/>
            </a:pP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화면 개발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로그인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/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예측 기능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/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마이페이지 </a:t>
            </a:r>
            <a:endParaRPr lang="en-US" altLang="ko-KR" sz="54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800" y="870237"/>
            <a:ext cx="10871200" cy="127818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E2333D-B2DF-4B1B-B03B-C9CADB724DEE}"/>
              </a:ext>
            </a:extLst>
          </p:cNvPr>
          <p:cNvSpPr txBox="1"/>
          <p:nvPr/>
        </p:nvSpPr>
        <p:spPr>
          <a:xfrm>
            <a:off x="755664" y="3155179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6000" spc="-133" dirty="0" err="1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Streamlit</a:t>
            </a:r>
            <a:r>
              <a:rPr lang="en-US" altLang="ko-KR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대시보드 개발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5EBB68F9-2897-4883-A9E6-C98AC64D1640}"/>
              </a:ext>
            </a:extLst>
          </p:cNvPr>
          <p:cNvSpPr txBox="1"/>
          <p:nvPr/>
        </p:nvSpPr>
        <p:spPr>
          <a:xfrm>
            <a:off x="668542" y="9644184"/>
            <a:ext cx="14800058" cy="2281182"/>
          </a:xfrm>
          <a:prstGeom prst="rect">
            <a:avLst/>
          </a:prstGeom>
        </p:spPr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보안 처리</a:t>
            </a: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en-US" altLang="ko-KR" sz="5400" dirty="0">
                <a:solidFill>
                  <a:srgbClr val="FF0000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JWT</a:t>
            </a:r>
            <a:r>
              <a:rPr lang="en-US" altLang="ko-KR" sz="54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4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기반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사용자 인증 및</a:t>
            </a:r>
            <a:endParaRPr lang="en-US" altLang="ko-KR" sz="54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</a:t>
            </a:r>
            <a:r>
              <a:rPr lang="ko-KR" altLang="en-US" sz="54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세션 관리</a:t>
            </a:r>
            <a:endParaRPr lang="en-US" altLang="ko-KR" sz="54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2450C2-D8EC-4F9C-A523-F354DCF58A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36357" y="5248130"/>
            <a:ext cx="11644237" cy="77157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2052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57E5B79E-9FD8-4FEC-869D-DC5C070CD3D5}"/>
              </a:ext>
            </a:extLst>
          </p:cNvPr>
          <p:cNvGrpSpPr/>
          <p:nvPr/>
        </p:nvGrpSpPr>
        <p:grpSpPr>
          <a:xfrm>
            <a:off x="18288001" y="-2581243"/>
            <a:ext cx="9550400" cy="8600698"/>
            <a:chOff x="16068474" y="-434049"/>
            <a:chExt cx="14122400" cy="14643100"/>
          </a:xfrm>
        </p:grpSpPr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1AC748CD-B633-4B49-BD99-3E3169652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68474" y="-434049"/>
              <a:ext cx="14122400" cy="14643100"/>
            </a:xfrm>
            <a:prstGeom prst="rect">
              <a:avLst/>
            </a:prstGeom>
          </p:spPr>
        </p:pic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47D154F3-713E-439E-A130-6B1606CA53BB}"/>
                </a:ext>
              </a:extLst>
            </p:cNvPr>
            <p:cNvGrpSpPr/>
            <p:nvPr/>
          </p:nvGrpSpPr>
          <p:grpSpPr>
            <a:xfrm>
              <a:off x="17285857" y="5042089"/>
              <a:ext cx="7623457" cy="5810008"/>
              <a:chOff x="16006793" y="5187079"/>
              <a:chExt cx="7623457" cy="5810008"/>
            </a:xfrm>
          </p:grpSpPr>
          <p:pic>
            <p:nvPicPr>
              <p:cNvPr id="36" name="Picture 7">
                <a:extLst>
                  <a:ext uri="{FF2B5EF4-FFF2-40B4-BE49-F238E27FC236}">
                    <a16:creationId xmlns:a16="http://schemas.microsoft.com/office/drawing/2014/main" id="{96503FFD-DF7B-494C-8D8C-89CEFEA917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alphaModFix amt="73000"/>
              </a:blip>
              <a:stretch>
                <a:fillRect/>
              </a:stretch>
            </p:blipFill>
            <p:spPr>
              <a:xfrm>
                <a:off x="17139483" y="5461419"/>
                <a:ext cx="6490767" cy="4904004"/>
              </a:xfrm>
              <a:prstGeom prst="rect">
                <a:avLst/>
              </a:prstGeom>
            </p:spPr>
          </p:pic>
          <p:sp>
            <p:nvSpPr>
              <p:cNvPr id="37" name="TextBox 8">
                <a:extLst>
                  <a:ext uri="{FF2B5EF4-FFF2-40B4-BE49-F238E27FC236}">
                    <a16:creationId xmlns:a16="http://schemas.microsoft.com/office/drawing/2014/main" id="{D37CB5EC-12D6-46BB-AB67-E5C68DA52CA4}"/>
                  </a:ext>
                </a:extLst>
              </p:cNvPr>
              <p:cNvSpPr txBox="1"/>
              <p:nvPr/>
            </p:nvSpPr>
            <p:spPr>
              <a:xfrm>
                <a:off x="16293483" y="10038105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0</a:t>
                </a:r>
              </a:p>
            </p:txBody>
          </p:sp>
          <p:sp>
            <p:nvSpPr>
              <p:cNvPr id="38" name="TextBox 9">
                <a:extLst>
                  <a:ext uri="{FF2B5EF4-FFF2-40B4-BE49-F238E27FC236}">
                    <a16:creationId xmlns:a16="http://schemas.microsoft.com/office/drawing/2014/main" id="{3CBD2BC5-3F41-4A38-A839-1ED8CC64E717}"/>
                  </a:ext>
                </a:extLst>
              </p:cNvPr>
              <p:cNvSpPr txBox="1"/>
              <p:nvPr/>
            </p:nvSpPr>
            <p:spPr>
              <a:xfrm>
                <a:off x="16293483" y="9105095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1</a:t>
                </a:r>
              </a:p>
            </p:txBody>
          </p:sp>
          <p:sp>
            <p:nvSpPr>
              <p:cNvPr id="39" name="TextBox 10">
                <a:extLst>
                  <a:ext uri="{FF2B5EF4-FFF2-40B4-BE49-F238E27FC236}">
                    <a16:creationId xmlns:a16="http://schemas.microsoft.com/office/drawing/2014/main" id="{2AD84663-4D3C-4C0B-B6D7-BBB89A0DE5D4}"/>
                  </a:ext>
                </a:extLst>
              </p:cNvPr>
              <p:cNvSpPr txBox="1"/>
              <p:nvPr/>
            </p:nvSpPr>
            <p:spPr>
              <a:xfrm>
                <a:off x="16293482" y="8602508"/>
                <a:ext cx="84600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2</a:t>
                </a:r>
              </a:p>
              <a:p>
                <a:pPr lvl="0" algn="r">
                  <a:lnSpc>
                    <a:spcPct val="155126"/>
                  </a:lnSpc>
                </a:pPr>
                <a:endParaRPr lang="en" sz="2399" b="0" i="0" u="none" strike="noStrike" spc="-120" dirty="0">
                  <a:solidFill>
                    <a:srgbClr val="F2F2F2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</a:endParaRPr>
              </a:p>
            </p:txBody>
          </p:sp>
          <p:sp>
            <p:nvSpPr>
              <p:cNvPr id="40" name="TextBox 11">
                <a:extLst>
                  <a:ext uri="{FF2B5EF4-FFF2-40B4-BE49-F238E27FC236}">
                    <a16:creationId xmlns:a16="http://schemas.microsoft.com/office/drawing/2014/main" id="{D950063A-144E-4F2F-A81E-9E06664A52F0}"/>
                  </a:ext>
                </a:extLst>
              </p:cNvPr>
              <p:cNvSpPr txBox="1"/>
              <p:nvPr/>
            </p:nvSpPr>
            <p:spPr>
              <a:xfrm>
                <a:off x="16037125" y="7093812"/>
                <a:ext cx="1129792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3</a:t>
                </a:r>
              </a:p>
            </p:txBody>
          </p:sp>
          <p:sp>
            <p:nvSpPr>
              <p:cNvPr id="41" name="TextBox 12">
                <a:extLst>
                  <a:ext uri="{FF2B5EF4-FFF2-40B4-BE49-F238E27FC236}">
                    <a16:creationId xmlns:a16="http://schemas.microsoft.com/office/drawing/2014/main" id="{739A86C1-CC31-4886-89EB-C8C0820C0F82}"/>
                  </a:ext>
                </a:extLst>
              </p:cNvPr>
              <p:cNvSpPr txBox="1"/>
              <p:nvPr/>
            </p:nvSpPr>
            <p:spPr>
              <a:xfrm>
                <a:off x="16293482" y="6155555"/>
                <a:ext cx="845998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4</a:t>
                </a:r>
              </a:p>
            </p:txBody>
          </p:sp>
          <p:sp>
            <p:nvSpPr>
              <p:cNvPr id="42" name="TextBox 13">
                <a:extLst>
                  <a:ext uri="{FF2B5EF4-FFF2-40B4-BE49-F238E27FC236}">
                    <a16:creationId xmlns:a16="http://schemas.microsoft.com/office/drawing/2014/main" id="{C97CB1A3-D313-4242-8476-62F002209F38}"/>
                  </a:ext>
                </a:extLst>
              </p:cNvPr>
              <p:cNvSpPr txBox="1"/>
              <p:nvPr/>
            </p:nvSpPr>
            <p:spPr>
              <a:xfrm>
                <a:off x="16006793" y="5187079"/>
                <a:ext cx="1163020" cy="390483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r">
                  <a:lnSpc>
                    <a:spcPct val="155126"/>
                  </a:lnSpc>
                </a:pPr>
                <a:r>
                  <a:rPr lang="en" sz="2399" b="0" i="0" u="none" strike="noStrike" spc="-120" dirty="0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5</a:t>
                </a:r>
              </a:p>
            </p:txBody>
          </p:sp>
          <p:pic>
            <p:nvPicPr>
              <p:cNvPr id="43" name="Picture 14">
                <a:extLst>
                  <a:ext uri="{FF2B5EF4-FFF2-40B4-BE49-F238E27FC236}">
                    <a16:creationId xmlns:a16="http://schemas.microsoft.com/office/drawing/2014/main" id="{3A466E6E-F289-42DB-BE0C-4BF694ACF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604691" y="7700953"/>
                <a:ext cx="764271" cy="2618531"/>
              </a:xfrm>
              <a:prstGeom prst="rect">
                <a:avLst/>
              </a:prstGeom>
            </p:spPr>
          </p:pic>
          <p:pic>
            <p:nvPicPr>
              <p:cNvPr id="44" name="Picture 15">
                <a:extLst>
                  <a:ext uri="{FF2B5EF4-FFF2-40B4-BE49-F238E27FC236}">
                    <a16:creationId xmlns:a16="http://schemas.microsoft.com/office/drawing/2014/main" id="{4FC25BCE-D56A-4354-850E-2935D8D7C2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166461" y="6885533"/>
                <a:ext cx="764271" cy="3433952"/>
              </a:xfrm>
              <a:prstGeom prst="rect">
                <a:avLst/>
              </a:prstGeom>
            </p:spPr>
          </p:pic>
          <p:pic>
            <p:nvPicPr>
              <p:cNvPr id="45" name="Picture 16">
                <a:extLst>
                  <a:ext uri="{FF2B5EF4-FFF2-40B4-BE49-F238E27FC236}">
                    <a16:creationId xmlns:a16="http://schemas.microsoft.com/office/drawing/2014/main" id="{DEEA2F52-C593-4406-A615-82FE5A6995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0717156" y="5840417"/>
                <a:ext cx="764271" cy="4479068"/>
              </a:xfrm>
              <a:prstGeom prst="rect">
                <a:avLst/>
              </a:prstGeom>
            </p:spPr>
          </p:pic>
          <p:pic>
            <p:nvPicPr>
              <p:cNvPr id="46" name="Picture 17">
                <a:extLst>
                  <a:ext uri="{FF2B5EF4-FFF2-40B4-BE49-F238E27FC236}">
                    <a16:creationId xmlns:a16="http://schemas.microsoft.com/office/drawing/2014/main" id="{41CFEC1C-2522-4C66-8799-640AB69BB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278929" y="6851080"/>
                <a:ext cx="764271" cy="3468405"/>
              </a:xfrm>
              <a:prstGeom prst="rect">
                <a:avLst/>
              </a:prstGeom>
            </p:spPr>
          </p:pic>
          <p:sp>
            <p:nvSpPr>
              <p:cNvPr id="47" name="TextBox 18">
                <a:extLst>
                  <a:ext uri="{FF2B5EF4-FFF2-40B4-BE49-F238E27FC236}">
                    <a16:creationId xmlns:a16="http://schemas.microsoft.com/office/drawing/2014/main" id="{1E19C015-9FCC-4413-9D89-AD2049DF5238}"/>
                  </a:ext>
                </a:extLst>
              </p:cNvPr>
              <p:cNvSpPr txBox="1"/>
              <p:nvPr/>
            </p:nvSpPr>
            <p:spPr>
              <a:xfrm>
                <a:off x="17637920" y="10503241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A</a:t>
                </a:r>
              </a:p>
            </p:txBody>
          </p:sp>
          <p:sp>
            <p:nvSpPr>
              <p:cNvPr id="48" name="TextBox 19">
                <a:extLst>
                  <a:ext uri="{FF2B5EF4-FFF2-40B4-BE49-F238E27FC236}">
                    <a16:creationId xmlns:a16="http://schemas.microsoft.com/office/drawing/2014/main" id="{DCE980A0-0429-43EF-891D-0FC17704A218}"/>
                  </a:ext>
                </a:extLst>
              </p:cNvPr>
              <p:cNvSpPr txBox="1"/>
              <p:nvPr/>
            </p:nvSpPr>
            <p:spPr>
              <a:xfrm>
                <a:off x="19188616" y="10503241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B</a:t>
                </a:r>
              </a:p>
            </p:txBody>
          </p:sp>
          <p:sp>
            <p:nvSpPr>
              <p:cNvPr id="49" name="TextBox 20">
                <a:extLst>
                  <a:ext uri="{FF2B5EF4-FFF2-40B4-BE49-F238E27FC236}">
                    <a16:creationId xmlns:a16="http://schemas.microsoft.com/office/drawing/2014/main" id="{3C2BD6A1-0AA3-4528-B806-A8EAF99B2252}"/>
                  </a:ext>
                </a:extLst>
              </p:cNvPr>
              <p:cNvSpPr txBox="1"/>
              <p:nvPr/>
            </p:nvSpPr>
            <p:spPr>
              <a:xfrm>
                <a:off x="20750386" y="10491754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C</a:t>
                </a:r>
              </a:p>
            </p:txBody>
          </p:sp>
          <p:sp>
            <p:nvSpPr>
              <p:cNvPr id="50" name="TextBox 21">
                <a:extLst>
                  <a:ext uri="{FF2B5EF4-FFF2-40B4-BE49-F238E27FC236}">
                    <a16:creationId xmlns:a16="http://schemas.microsoft.com/office/drawing/2014/main" id="{9EE1BED4-9580-4193-8CAD-B67DA28DCE4C}"/>
                  </a:ext>
                </a:extLst>
              </p:cNvPr>
              <p:cNvSpPr txBox="1"/>
              <p:nvPr/>
            </p:nvSpPr>
            <p:spPr>
              <a:xfrm>
                <a:off x="22312154" y="10503241"/>
                <a:ext cx="719965" cy="493846"/>
              </a:xfrm>
              <a:prstGeom prst="rect">
                <a:avLst/>
              </a:prstGeom>
            </p:spPr>
            <p:txBody>
              <a:bodyPr rtlCol="0" anchor="ctr"/>
              <a:lstStyle/>
              <a:p>
                <a:pPr lvl="0" algn="ctr">
                  <a:lnSpc>
                    <a:spcPct val="155126"/>
                  </a:lnSpc>
                </a:pPr>
                <a:r>
                  <a:rPr lang="en" sz="3066" b="0" i="0" u="none" strike="noStrike" spc="-153">
                    <a:solidFill>
                      <a:srgbClr val="F2F2F2"/>
                    </a:solidFill>
                    <a:latin typeface="Noto Sans KR ExtraBold" panose="020B0200000000000000" pitchFamily="50" charset="-127"/>
                    <a:ea typeface="Noto Sans KR ExtraBold" panose="020B0200000000000000" pitchFamily="50" charset="-127"/>
                  </a:rPr>
                  <a:t>D</a:t>
                </a:r>
              </a:p>
            </p:txBody>
          </p:sp>
        </p:grpSp>
      </p:grpSp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799" y="870236"/>
            <a:ext cx="8089901" cy="12519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110853-26DE-4B16-B672-60FA258C2583}"/>
              </a:ext>
            </a:extLst>
          </p:cNvPr>
          <p:cNvSpPr txBox="1"/>
          <p:nvPr/>
        </p:nvSpPr>
        <p:spPr>
          <a:xfrm>
            <a:off x="1344244" y="4560830"/>
            <a:ext cx="14657755" cy="111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3)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시도 해 본 모델을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5000" dirty="0" err="1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Streamlit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에 로드 시킴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47EB13-459C-4B8E-B95F-3FCA0BE22BB0}"/>
              </a:ext>
            </a:extLst>
          </p:cNvPr>
          <p:cNvSpPr txBox="1"/>
          <p:nvPr/>
        </p:nvSpPr>
        <p:spPr>
          <a:xfrm>
            <a:off x="838200" y="2912202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6000" spc="-133" dirty="0" err="1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Streamlit</a:t>
            </a:r>
            <a:r>
              <a:rPr lang="en-US" altLang="ko-KR" sz="6000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</a:t>
            </a: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대시보드 개발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FF1C96-97AF-4D7C-B1C2-78995DAEB0C6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67690" y="6248400"/>
            <a:ext cx="20247088" cy="65973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8759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799" y="870236"/>
            <a:ext cx="8089901" cy="12519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74959C-DD24-4689-B895-8A60C980FFF8}"/>
              </a:ext>
            </a:extLst>
          </p:cNvPr>
          <p:cNvSpPr txBox="1"/>
          <p:nvPr/>
        </p:nvSpPr>
        <p:spPr>
          <a:xfrm>
            <a:off x="457200" y="6693739"/>
            <a:ext cx="10414002" cy="3419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500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)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예측 결과를 뇌출혈로 판단할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경우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  </a:t>
            </a:r>
          </a:p>
          <a:p>
            <a:pPr>
              <a:lnSpc>
                <a:spcPct val="150000"/>
              </a:lnSpc>
            </a:pPr>
            <a:r>
              <a:rPr lang="en-US" altLang="ko-KR" sz="50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en-US" altLang="ko-KR" sz="5000" dirty="0">
                <a:solidFill>
                  <a:srgbClr val="FF0000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Grad-CAM</a:t>
            </a:r>
            <a:r>
              <a:rPr lang="en-US" altLang="ko-KR" sz="50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dirty="0" err="1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히트맵</a:t>
            </a:r>
            <a:r>
              <a:rPr lang="ko-KR" altLang="en-US" sz="50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을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활용하여</a:t>
            </a:r>
            <a:endParaRPr lang="en-US" altLang="ko-KR" sz="5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뇌출혈 의심 부위 확인 가능</a:t>
            </a:r>
            <a:endParaRPr lang="en-US" altLang="ko-KR" sz="5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47EB13-459C-4B8E-B95F-3FCA0BE22BB0}"/>
              </a:ext>
            </a:extLst>
          </p:cNvPr>
          <p:cNvSpPr txBox="1"/>
          <p:nvPr/>
        </p:nvSpPr>
        <p:spPr>
          <a:xfrm>
            <a:off x="838200" y="2912202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6000" spc="-133" dirty="0" err="1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Streamlit</a:t>
            </a:r>
            <a:r>
              <a:rPr lang="en-US" altLang="ko-KR" sz="6000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</a:t>
            </a: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대시보드 개발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BB5E55-3CFA-4B6E-A6A1-CEB7CEB4ACC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00543" y="1310218"/>
            <a:ext cx="12249268" cy="114981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9080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4">
            <a:extLst>
              <a:ext uri="{FF2B5EF4-FFF2-40B4-BE49-F238E27FC236}">
                <a16:creationId xmlns:a16="http://schemas.microsoft.com/office/drawing/2014/main" id="{78BCC73D-3189-4D8B-B658-003D5B3BBF94}"/>
              </a:ext>
            </a:extLst>
          </p:cNvPr>
          <p:cNvSpPr txBox="1"/>
          <p:nvPr/>
        </p:nvSpPr>
        <p:spPr>
          <a:xfrm>
            <a:off x="1320799" y="870236"/>
            <a:ext cx="8089901" cy="12519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수행 경과</a:t>
            </a:r>
            <a:endParaRPr lang="en-US" alt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74959C-DD24-4689-B895-8A60C980FFF8}"/>
              </a:ext>
            </a:extLst>
          </p:cNvPr>
          <p:cNvSpPr txBox="1"/>
          <p:nvPr/>
        </p:nvSpPr>
        <p:spPr>
          <a:xfrm>
            <a:off x="381000" y="4509110"/>
            <a:ext cx="17449800" cy="4573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arenR"/>
            </a:pP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서버 구축</a:t>
            </a:r>
            <a:endParaRPr lang="en-US" altLang="ko-KR" sz="5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-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인스턴스 생성</a:t>
            </a:r>
            <a:endParaRPr lang="en-US" altLang="ko-KR" sz="5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-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필수 패키지 설치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(</a:t>
            </a:r>
            <a:r>
              <a:rPr lang="en-US" altLang="ko-KR" sz="50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Java17,</a:t>
            </a:r>
          </a:p>
          <a:p>
            <a:pPr>
              <a:lnSpc>
                <a:spcPct val="150000"/>
              </a:lnSpc>
            </a:pP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  </a:t>
            </a:r>
            <a:r>
              <a:rPr lang="en-US" altLang="ko-KR" sz="50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MySQL 8.0, Python 1.12, Nginx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47EB13-459C-4B8E-B95F-3FCA0BE22BB0}"/>
              </a:ext>
            </a:extLst>
          </p:cNvPr>
          <p:cNvSpPr txBox="1"/>
          <p:nvPr/>
        </p:nvSpPr>
        <p:spPr>
          <a:xfrm>
            <a:off x="400050" y="2912202"/>
            <a:ext cx="13506450" cy="108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6000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AWS </a:t>
            </a:r>
            <a:r>
              <a:rPr lang="en-US" altLang="ko-KR" sz="6000" spc="-133" dirty="0" err="1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Lightsail</a:t>
            </a:r>
            <a:r>
              <a:rPr lang="en-US" altLang="ko-KR" sz="6000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</a:t>
            </a:r>
            <a:r>
              <a:rPr lang="ko-KR" altLang="en-US" sz="6000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웹 배포 작업</a:t>
            </a:r>
            <a:endParaRPr lang="ko-KR" altLang="ko-KR" sz="6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2F638E-CA5E-449B-A392-678DDBC49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951" y="1310218"/>
            <a:ext cx="12612860" cy="114981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D65385-1F5A-4738-816E-457751682739}"/>
              </a:ext>
            </a:extLst>
          </p:cNvPr>
          <p:cNvSpPr txBox="1"/>
          <p:nvPr/>
        </p:nvSpPr>
        <p:spPr>
          <a:xfrm>
            <a:off x="537487" y="9593320"/>
            <a:ext cx="10414002" cy="3419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도메인 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&amp;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보안 설정</a:t>
            </a:r>
            <a:endParaRPr lang="en-US" altLang="ko-KR" sz="5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en-US" altLang="ko-KR" sz="5000" dirty="0" err="1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DuckDNS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무료 도메인 연결</a:t>
            </a:r>
            <a:endParaRPr lang="en-US" altLang="ko-KR" sz="5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en-US" altLang="ko-KR" sz="5000" dirty="0">
                <a:solidFill>
                  <a:srgbClr val="FF0000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HTTPS</a:t>
            </a:r>
            <a:r>
              <a:rPr lang="en-US" altLang="ko-KR" sz="50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적용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(</a:t>
            </a:r>
            <a:r>
              <a:rPr lang="en-US" altLang="ko-KR" sz="50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SSL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인증서 적용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5350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5"/>
          <p:cNvSpPr txBox="1"/>
          <p:nvPr/>
        </p:nvSpPr>
        <p:spPr>
          <a:xfrm>
            <a:off x="10020300" y="5991225"/>
            <a:ext cx="4343400" cy="173355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5000" b="0" i="0" u="none" strike="noStrike" spc="-133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시연</a:t>
            </a:r>
            <a:endParaRPr lang="ko-KR" sz="15000" b="0" i="0" u="none" strike="noStrike" spc="-133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01924D-E89D-4CF9-B832-F1A50B36CD7E}"/>
              </a:ext>
            </a:extLst>
          </p:cNvPr>
          <p:cNvSpPr txBox="1"/>
          <p:nvPr/>
        </p:nvSpPr>
        <p:spPr>
          <a:xfrm>
            <a:off x="7239000" y="9067800"/>
            <a:ext cx="11811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>
                <a:latin typeface="Roboto Condensed ExtraBold" panose="02000000000000000000" pitchFamily="2" charset="0"/>
                <a:ea typeface="Roboto Condensed ExtraBold" panose="02000000000000000000" pitchFamily="2" charset="0"/>
                <a:hlinkClick r:id="rId2"/>
              </a:rPr>
              <a:t>https://brain-hemorrhage.duckdns.org</a:t>
            </a:r>
            <a:r>
              <a:rPr lang="en-US" altLang="ko-KR" sz="50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 </a:t>
            </a:r>
            <a:endParaRPr lang="ko-KR" altLang="en-US" sz="5000" dirty="0">
              <a:latin typeface="Roboto Condensed Extra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865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05700" y="-508000"/>
            <a:ext cx="4521200" cy="14452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320800" y="3091067"/>
            <a:ext cx="83439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ko-KR" altLang="en-US" sz="6000" b="0" i="0" u="none" strike="noStrike" spc="-187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잘한 점</a:t>
            </a:r>
            <a:endParaRPr lang="ko-KR" sz="6000" b="0" i="0" u="none" strike="noStrike" spc="-187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C244B320-A2BA-4E92-980D-CBE31F263ABB}"/>
              </a:ext>
            </a:extLst>
          </p:cNvPr>
          <p:cNvSpPr txBox="1"/>
          <p:nvPr/>
        </p:nvSpPr>
        <p:spPr>
          <a:xfrm>
            <a:off x="1320800" y="870236"/>
            <a:ext cx="22682200" cy="286356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자체 평가</a:t>
            </a:r>
            <a:endParaRPr lang="ko-KR" sz="7000" b="0" i="0" u="none" strike="noStrike" spc="-133" dirty="0">
              <a:solidFill>
                <a:schemeClr val="tx1">
                  <a:lumMod val="85000"/>
                  <a:lumOff val="15000"/>
                </a:schemeClr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E7D9D-462A-4CB1-95B4-9FB7E14C7944}"/>
              </a:ext>
            </a:extLst>
          </p:cNvPr>
          <p:cNvSpPr txBox="1"/>
          <p:nvPr/>
        </p:nvSpPr>
        <p:spPr>
          <a:xfrm>
            <a:off x="1676400" y="4643992"/>
            <a:ext cx="1579245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</a:t>
            </a:r>
            <a:r>
              <a:rPr lang="en-US" altLang="ko-KR" sz="45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) CNN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과 </a:t>
            </a:r>
            <a:r>
              <a:rPr lang="en-US" altLang="ko-KR" sz="4500" dirty="0" err="1"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en-US" altLang="ko-KR" sz="45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계열 신경망 등 다양한 신경망으로 학습함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→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성능을 비교하여 더 정확한 모델을 선택할 수 있었다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005BE-EE3A-44EC-93AE-A46F7BE466E9}"/>
              </a:ext>
            </a:extLst>
          </p:cNvPr>
          <p:cNvSpPr txBox="1"/>
          <p:nvPr/>
        </p:nvSpPr>
        <p:spPr>
          <a:xfrm>
            <a:off x="1654277" y="7265412"/>
            <a:ext cx="14728723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en-US" altLang="ko-KR" sz="45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Grad-CAM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히트맵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기능을 추가하여 전문의가 뇌의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어느 부분에 문제가 있는지 참고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할 수 있도록 구현하였다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7E190C-6B60-47F2-A437-9DFAFE1185CC}"/>
              </a:ext>
            </a:extLst>
          </p:cNvPr>
          <p:cNvSpPr txBox="1"/>
          <p:nvPr/>
        </p:nvSpPr>
        <p:spPr>
          <a:xfrm>
            <a:off x="1649022" y="9886832"/>
            <a:ext cx="15038778" cy="3086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 수집부터 모델 개발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백엔드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/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프론트엔드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구축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클라우드 배포까지 </a:t>
            </a:r>
            <a:r>
              <a:rPr lang="en-US" altLang="ko-KR" sz="45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End-to-End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서비스 개발을 경험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→ </a:t>
            </a:r>
            <a:r>
              <a:rPr lang="ko-KR" altLang="en-US" sz="45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실무 역량을 강화하였다</a:t>
            </a:r>
            <a:r>
              <a:rPr lang="en-US" altLang="ko-KR" sz="45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5868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747568" y="-508000"/>
            <a:ext cx="1979332" cy="14452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06600" y="4880117"/>
            <a:ext cx="9375600" cy="3955766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1)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뇌출혈 단일 판독으로 실용성 부족</a:t>
            </a:r>
            <a:endParaRPr lang="en-US" altLang="ko-KR" sz="45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뇌출혈 유무 판단만 가능</a:t>
            </a:r>
            <a:endParaRPr lang="en-US" altLang="ko-KR" sz="45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45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뇌경색</a:t>
            </a:r>
            <a:r>
              <a:rPr lang="en-US" altLang="ko-KR" sz="45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45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뇌종양 등 유사 증상 감별 불가</a:t>
            </a:r>
            <a:endParaRPr lang="en-US" altLang="ko-KR" sz="4500" b="0" i="0" u="none" strike="noStrike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6599" y="2998586"/>
            <a:ext cx="23799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ko-KR" altLang="en-US" sz="5000" b="0" i="0" u="none" strike="noStrike" spc="-187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개선점</a:t>
            </a:r>
            <a:endParaRPr lang="ko-KR" sz="5000" b="0" i="0" u="none" strike="noStrike" spc="-187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C244B320-A2BA-4E92-980D-CBE31F263ABB}"/>
              </a:ext>
            </a:extLst>
          </p:cNvPr>
          <p:cNvSpPr txBox="1"/>
          <p:nvPr/>
        </p:nvSpPr>
        <p:spPr>
          <a:xfrm>
            <a:off x="1320800" y="870236"/>
            <a:ext cx="22682200" cy="286356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자체 평가</a:t>
            </a:r>
            <a:endParaRPr 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71C8D-B2BF-443A-A95E-1AF08D0FDDC2}"/>
              </a:ext>
            </a:extLst>
          </p:cNvPr>
          <p:cNvSpPr txBox="1"/>
          <p:nvPr/>
        </p:nvSpPr>
        <p:spPr>
          <a:xfrm>
            <a:off x="10792000" y="3003454"/>
            <a:ext cx="4150066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ko-KR" altLang="en-US" sz="5000" b="0" i="0" u="none" strike="noStrike" spc="-187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향후 계획</a:t>
            </a:r>
            <a:endParaRPr lang="ko-KR" sz="5000" b="0" i="0" u="none" strike="noStrike" spc="-187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42E2F68-4B8E-44A4-BE5F-4AF02C78F2B4}"/>
              </a:ext>
            </a:extLst>
          </p:cNvPr>
          <p:cNvSpPr txBox="1"/>
          <p:nvPr/>
        </p:nvSpPr>
        <p:spPr>
          <a:xfrm>
            <a:off x="10791999" y="5377045"/>
            <a:ext cx="10923971" cy="296191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1)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 질환 종합 진단 모델로 확장</a:t>
            </a:r>
            <a:endParaRPr lang="en-US" altLang="ko-KR" sz="45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뇌출혈 뿐만 아니라</a:t>
            </a: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 </a:t>
            </a:r>
            <a:r>
              <a:rPr lang="en-US" altLang="ko-KR" sz="4500" spc="-153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CT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로 판독 가능한</a:t>
            </a:r>
            <a:endParaRPr lang="en-US" altLang="ko-KR" sz="45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</a:t>
            </a:r>
            <a:r>
              <a:rPr lang="ko-KR" altLang="en-US" sz="4500" b="0" i="0" u="none" strike="noStrike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다양한 뇌 질환 판독이 가능한 시스템 구축</a:t>
            </a:r>
            <a:endParaRPr lang="en-US" altLang="ko-KR" sz="4500" b="0" i="0" u="none" strike="noStrike" spc="-153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1FDEFB8-4B9E-4880-AE46-8B96E08A1E74}"/>
              </a:ext>
            </a:extLst>
          </p:cNvPr>
          <p:cNvSpPr txBox="1"/>
          <p:nvPr/>
        </p:nvSpPr>
        <p:spPr>
          <a:xfrm>
            <a:off x="606599" y="9438103"/>
            <a:ext cx="9775435" cy="2558621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2)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단순 판독 보조 기능만 제공</a:t>
            </a:r>
            <a:endParaRPr lang="en-US" altLang="ko-KR" sz="45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현재 단일 </a:t>
            </a:r>
            <a:r>
              <a:rPr lang="en-US" altLang="ko-KR" sz="4500" spc="-153" dirty="0">
                <a:latin typeface="Roboto ExtraBold" panose="02000000000000000000" pitchFamily="2" charset="0"/>
                <a:ea typeface="Roboto ExtraBold" panose="02000000000000000000" pitchFamily="2" charset="0"/>
              </a:rPr>
              <a:t>CT</a:t>
            </a: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이미지만 분석 가능하여 </a:t>
            </a:r>
            <a:endParaRPr lang="en-US" altLang="ko-KR" sz="45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동일 환자의 출혈 변화 추이 파악 불가</a:t>
            </a:r>
            <a:endParaRPr lang="en-US" altLang="ko-KR" sz="4500" b="0" i="0" u="none" strike="noStrike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84002A6F-8023-4FD0-AA41-9B37D4C9BB1E}"/>
              </a:ext>
            </a:extLst>
          </p:cNvPr>
          <p:cNvSpPr txBox="1"/>
          <p:nvPr/>
        </p:nvSpPr>
        <p:spPr>
          <a:xfrm>
            <a:off x="10699655" y="9153890"/>
            <a:ext cx="12617544" cy="296191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2) </a:t>
            </a:r>
            <a:r>
              <a:rPr lang="ko-KR" altLang="en-US" sz="4500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추적 관찰 시스템 구축</a:t>
            </a:r>
            <a:endParaRPr lang="en-US" altLang="ko-KR" sz="4500" spc="-153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4500" spc="-153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환자별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시계열 </a:t>
            </a:r>
            <a:r>
              <a:rPr lang="en-US" altLang="ko-KR" sz="4500" spc="-153" dirty="0">
                <a:latin typeface="Roboto ExtraBold" panose="02000000000000000000" pitchFamily="2" charset="0"/>
                <a:ea typeface="Roboto ExtraBold" panose="02000000000000000000" pitchFamily="2" charset="0"/>
              </a:rPr>
              <a:t>CT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 축적하여</a:t>
            </a:r>
            <a:endParaRPr lang="en-US" altLang="ko-KR" sz="45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출혈 진행</a:t>
            </a:r>
            <a:r>
              <a:rPr lang="en-US" altLang="ko-KR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/</a:t>
            </a:r>
            <a:r>
              <a:rPr lang="ko-KR" altLang="en-US" sz="45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호전 모니터링 및 예후 예측 기능 개발</a:t>
            </a:r>
            <a:endParaRPr lang="en-US" altLang="ko-KR" sz="45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D7363B-A088-415D-AA38-CA9C6EB70626}"/>
              </a:ext>
            </a:extLst>
          </p:cNvPr>
          <p:cNvCxnSpPr>
            <a:cxnSpLocks/>
          </p:cNvCxnSpPr>
          <p:nvPr/>
        </p:nvCxnSpPr>
        <p:spPr>
          <a:xfrm>
            <a:off x="10287000" y="4104909"/>
            <a:ext cx="0" cy="8544295"/>
          </a:xfrm>
          <a:prstGeom prst="line">
            <a:avLst/>
          </a:prstGeom>
          <a:ln>
            <a:solidFill>
              <a:srgbClr val="197A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616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25934" y="-508000"/>
            <a:ext cx="2600965" cy="14452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06600" y="3468485"/>
            <a:ext cx="22253400" cy="3955766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1) </a:t>
            </a:r>
            <a:r>
              <a:rPr lang="ko-KR" altLang="en-US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실무 활용 가능성 평가</a:t>
            </a:r>
            <a:endParaRPr lang="en-US" altLang="ko-KR" sz="40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실제 의료 현장 적용을 위해 </a:t>
            </a:r>
            <a:r>
              <a:rPr lang="ko-KR" altLang="en-US" sz="4000" b="0" i="0" u="none" strike="noStrike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다중 질환 감별</a:t>
            </a:r>
            <a:r>
              <a:rPr lang="en-US" altLang="ko-KR" sz="4000" b="0" i="0" u="none" strike="noStrike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4000" b="0" i="0" u="none" strike="noStrike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추적 관찰 기능</a:t>
            </a:r>
            <a:r>
              <a:rPr lang="en-US" altLang="ko-KR" sz="4000" b="0" i="0" u="none" strike="noStrike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en-US" altLang="ko-KR" sz="4000" b="0" i="0" u="none" strike="noStrike" spc="-153" dirty="0">
                <a:solidFill>
                  <a:srgbClr val="FF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XAI</a:t>
            </a:r>
            <a:r>
              <a:rPr lang="en-US" altLang="ko-KR" sz="4000" b="0" i="0" u="none" strike="noStrike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000" b="0" i="0" u="none" strike="noStrike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고도화</a:t>
            </a:r>
            <a:r>
              <a:rPr lang="ko-KR" altLang="en-US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가 선행되어야 함</a:t>
            </a:r>
            <a:endParaRPr lang="en-US" altLang="ko-KR" sz="40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6598" y="2998586"/>
            <a:ext cx="5870401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70065"/>
              </a:lnSpc>
            </a:pPr>
            <a:r>
              <a:rPr lang="ko-KR" altLang="en-US" sz="5000" b="0" i="0" u="none" strike="noStrike" spc="-187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평가 항목</a:t>
            </a:r>
            <a:endParaRPr lang="ko-KR" sz="5000" b="0" i="0" u="none" strike="noStrike" spc="-187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C244B320-A2BA-4E92-980D-CBE31F263ABB}"/>
              </a:ext>
            </a:extLst>
          </p:cNvPr>
          <p:cNvSpPr txBox="1"/>
          <p:nvPr/>
        </p:nvSpPr>
        <p:spPr>
          <a:xfrm>
            <a:off x="1320800" y="870236"/>
            <a:ext cx="22682200" cy="286356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7000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</a:t>
            </a:r>
            <a:r>
              <a:rPr lang="en-US" altLang="ko-KR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7000" b="0" i="0" u="none" strike="noStrike" spc="-13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자체 평가</a:t>
            </a:r>
            <a:endParaRPr lang="ko-KR" sz="7000" b="0" i="0" u="none" strike="noStrike" spc="-13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231CABA4-7D6F-4321-94AC-A2A52A2093DB}"/>
              </a:ext>
            </a:extLst>
          </p:cNvPr>
          <p:cNvSpPr txBox="1"/>
          <p:nvPr/>
        </p:nvSpPr>
        <p:spPr>
          <a:xfrm>
            <a:off x="606600" y="6705600"/>
            <a:ext cx="22253400" cy="3955766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2) </a:t>
            </a:r>
            <a:r>
              <a:rPr lang="ko-KR" altLang="en-US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기획 의도 부합 정도</a:t>
            </a:r>
            <a:endParaRPr lang="en-US" altLang="ko-KR" sz="40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en-US" altLang="ko-KR" sz="4000" b="0" i="0" u="none" strike="noStrike" spc="-153" dirty="0">
                <a:latin typeface="Roboto ExtraBold" panose="02000000000000000000" pitchFamily="2" charset="0"/>
                <a:ea typeface="Roboto ExtraBold" panose="02000000000000000000" pitchFamily="2" charset="0"/>
              </a:rPr>
              <a:t>CT</a:t>
            </a:r>
            <a:r>
              <a:rPr lang="en-US" altLang="ko-KR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이미지 기반 뇌출혈 자동 감지 및 </a:t>
            </a:r>
            <a:r>
              <a:rPr lang="en-US" altLang="ko-KR" sz="4000" b="0" i="0" u="none" strike="noStrike" spc="-153" dirty="0">
                <a:latin typeface="Roboto ExtraBold" panose="02000000000000000000" pitchFamily="2" charset="0"/>
                <a:ea typeface="Roboto ExtraBold" panose="02000000000000000000" pitchFamily="2" charset="0"/>
              </a:rPr>
              <a:t>Grad-CAM</a:t>
            </a:r>
            <a:r>
              <a:rPr lang="en-US" altLang="ko-KR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시각화라는 목표는 달성 했으나</a:t>
            </a:r>
            <a:r>
              <a:rPr lang="en-US" altLang="ko-KR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</a:t>
            </a:r>
          </a:p>
          <a:p>
            <a:pPr lvl="0" algn="l">
              <a:lnSpc>
                <a:spcPct val="155126"/>
              </a:lnSpc>
            </a:pPr>
            <a:r>
              <a:rPr lang="en-US" altLang="ko-KR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</a:t>
            </a:r>
            <a:r>
              <a:rPr lang="ko-KR" altLang="en-US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종합 진단 도구로의 확장이 필요</a:t>
            </a:r>
            <a:endParaRPr lang="en-US" altLang="ko-KR" sz="40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FA7D682D-D79C-42C1-B9D1-5832D3FF97F3}"/>
              </a:ext>
            </a:extLst>
          </p:cNvPr>
          <p:cNvSpPr txBox="1"/>
          <p:nvPr/>
        </p:nvSpPr>
        <p:spPr>
          <a:xfrm>
            <a:off x="606600" y="9829391"/>
            <a:ext cx="22253400" cy="3955766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55126"/>
              </a:lnSpc>
            </a:pPr>
            <a:r>
              <a:rPr lang="en-US" altLang="ko-KR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3) </a:t>
            </a:r>
            <a:r>
              <a:rPr lang="ko-KR" altLang="en-US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달성도 및 완성도</a:t>
            </a:r>
            <a:endParaRPr lang="en-US" altLang="ko-KR" sz="40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55126"/>
              </a:lnSpc>
            </a:pPr>
            <a:r>
              <a:rPr lang="en-US" altLang="ko-KR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- </a:t>
            </a:r>
            <a:r>
              <a:rPr lang="ko-KR" altLang="en-US" sz="4000" b="0" i="0" u="none" strike="noStrike" spc="-153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 수집부터 클라우드 배포</a:t>
            </a:r>
            <a:r>
              <a:rPr lang="en-US" altLang="ko-KR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(</a:t>
            </a:r>
            <a:r>
              <a:rPr lang="en-US" altLang="ko-KR" sz="4000" b="0" i="0" u="none" strike="noStrike" spc="-153" dirty="0">
                <a:latin typeface="Roboto ExtraBold" panose="02000000000000000000" pitchFamily="2" charset="0"/>
                <a:ea typeface="Roboto ExtraBold" panose="02000000000000000000" pitchFamily="2" charset="0"/>
              </a:rPr>
              <a:t>JWT/</a:t>
            </a:r>
            <a:r>
              <a:rPr lang="en-US" altLang="ko-KR" sz="4000" spc="-153" dirty="0">
                <a:latin typeface="Roboto ExtraBold" panose="02000000000000000000" pitchFamily="2" charset="0"/>
                <a:ea typeface="Roboto ExtraBold" panose="02000000000000000000" pitchFamily="2" charset="0"/>
              </a:rPr>
              <a:t>HTTPS</a:t>
            </a:r>
            <a:r>
              <a:rPr lang="ko-KR" altLang="en-US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보안적용</a:t>
            </a:r>
            <a:r>
              <a:rPr lang="en-US" altLang="ko-KR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)</a:t>
            </a:r>
            <a:r>
              <a:rPr lang="ko-KR" altLang="en-US" sz="4000" b="0" i="0" u="none" strike="noStrike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까지 </a:t>
            </a:r>
            <a:r>
              <a:rPr lang="ko-KR" altLang="en-US" sz="4000" spc="-153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서비스 배포 수준의 완성도 확보</a:t>
            </a:r>
            <a:endParaRPr lang="en-US" altLang="ko-KR" sz="4000" spc="-153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8326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5"/>
          <p:cNvSpPr txBox="1"/>
          <p:nvPr/>
        </p:nvSpPr>
        <p:spPr>
          <a:xfrm>
            <a:off x="10020300" y="5991225"/>
            <a:ext cx="5219700" cy="173355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15000" b="0" i="0" u="none" strike="noStrike" spc="-133" dirty="0">
                <a:solidFill>
                  <a:srgbClr val="197A52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Q&amp;A</a:t>
            </a:r>
            <a:endParaRPr lang="ko-KR" sz="15000" b="0" i="0" u="none" strike="noStrike" spc="-133" dirty="0">
              <a:solidFill>
                <a:srgbClr val="197A52"/>
              </a:solidFill>
              <a:latin typeface="Roboto Condensed ExtraBold" panose="02000000000000000000" pitchFamily="2" charset="0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6730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5"/>
          <p:cNvSpPr txBox="1"/>
          <p:nvPr/>
        </p:nvSpPr>
        <p:spPr>
          <a:xfrm>
            <a:off x="7772400" y="5991224"/>
            <a:ext cx="8839200" cy="2314575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5000" spc="-300" dirty="0">
                <a:solidFill>
                  <a:srgbClr val="197A52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감사합니다</a:t>
            </a:r>
            <a:endParaRPr lang="ko-KR" sz="15000" b="0" i="0" u="none" strike="noStrike" spc="-300" dirty="0">
              <a:solidFill>
                <a:srgbClr val="197A52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801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17047</TotalTime>
  <Words>1289</Words>
  <Application>Microsoft Office PowerPoint</Application>
  <PresentationFormat>사용자 지정</PresentationFormat>
  <Paragraphs>349</Paragraphs>
  <Slides>26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맑은 고딕</vt:lpstr>
      <vt:lpstr>Arial</vt:lpstr>
      <vt:lpstr>Roboto Condensed ExtraBold</vt:lpstr>
      <vt:lpstr>Roboto ExtraBold</vt:lpstr>
      <vt:lpstr>Noto Sans KR ExtraBold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yj-603-12</dc:creator>
  <cp:lastModifiedBy>yj-603-12</cp:lastModifiedBy>
  <cp:revision>317</cp:revision>
  <dcterms:created xsi:type="dcterms:W3CDTF">2006-08-16T00:00:00Z</dcterms:created>
  <dcterms:modified xsi:type="dcterms:W3CDTF">2025-12-09T08:47:29Z</dcterms:modified>
</cp:coreProperties>
</file>