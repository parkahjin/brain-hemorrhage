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74" r:id="rId6"/>
    <p:sldId id="260" r:id="rId7"/>
    <p:sldId id="259" r:id="rId8"/>
    <p:sldId id="262" r:id="rId9"/>
    <p:sldId id="277" r:id="rId10"/>
    <p:sldId id="279" r:id="rId11"/>
    <p:sldId id="278" r:id="rId12"/>
    <p:sldId id="280" r:id="rId13"/>
    <p:sldId id="275" r:id="rId14"/>
    <p:sldId id="281" r:id="rId15"/>
    <p:sldId id="282" r:id="rId16"/>
    <p:sldId id="276" r:id="rId17"/>
    <p:sldId id="283" r:id="rId18"/>
    <p:sldId id="284" r:id="rId19"/>
  </p:sldIdLst>
  <p:sldSz cx="24384000" cy="13716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HY견고딕" panose="02030600000101010101" pitchFamily="18" charset="-127"/>
      <p:regular r:id="rId25"/>
    </p:embeddedFont>
    <p:embeddedFont>
      <p:font typeface="Noto Sans KR ExtraBold" panose="020B0200000000000000" pitchFamily="50" charset="-127"/>
      <p:bold r:id="rId26"/>
    </p:embeddedFont>
    <p:embeddedFont>
      <p:font typeface="Roboto Condensed ExtraBold" panose="02000000000000000000" pitchFamily="2" charset="0"/>
      <p:bold r:id="rId27"/>
      <p:boldItalic r:id="rId28"/>
    </p:embeddedFont>
    <p:embeddedFont>
      <p:font typeface="Roboto ExtraBold" panose="02000000000000000000" pitchFamily="2" charset="0"/>
      <p:bold r:id="rId29"/>
      <p:boldItalic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0" d="100"/>
          <a:sy n="30" d="100"/>
        </p:scale>
        <p:origin x="162" y="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EBAA7-724D-4706-8815-0BAEDD7C1E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9FF67-FA0D-4574-A6C1-2FB13C072E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35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9FF67-FA0D-4574-A6C1-2FB13C072E8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541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9FF67-FA0D-4574-A6C1-2FB13C072E8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194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9FF67-FA0D-4574-A6C1-2FB13C072E8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320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9FF67-FA0D-4574-A6C1-2FB13C072E8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359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9FF67-FA0D-4574-A6C1-2FB13C072E8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840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9FF67-FA0D-4574-A6C1-2FB13C072E8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74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676400" y="4737100"/>
            <a:ext cx="20637500" cy="2120900"/>
          </a:xfrm>
          <a:prstGeom prst="rect">
            <a:avLst/>
          </a:prstGeom>
        </p:spPr>
        <p:txBody>
          <a:bodyPr lIns="0" tIns="60382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10000" b="0" i="0" u="none" strike="noStrike" spc="-3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뇌출혈 조기 진단 프로젝트</a:t>
            </a:r>
            <a:endParaRPr lang="en-US" altLang="ko-KR" sz="10000" b="0" i="0" u="none" strike="noStrike" spc="-3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ctr">
              <a:lnSpc>
                <a:spcPct val="107899"/>
              </a:lnSpc>
            </a:pPr>
            <a:endParaRPr lang="ko-KR" sz="10000" b="0" i="0" u="none" strike="noStrike" spc="-3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6300" y="10502900"/>
            <a:ext cx="22669500" cy="50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854200" y="10833100"/>
            <a:ext cx="20459700" cy="1600200"/>
          </a:xfrm>
          <a:prstGeom prst="rect">
            <a:avLst/>
          </a:prstGeom>
        </p:spPr>
        <p:txBody>
          <a:bodyPr lIns="0" tIns="296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666" b="0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Claude</a:t>
            </a:r>
            <a:r>
              <a:rPr lang="en-US" sz="4666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4666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</a:t>
            </a:r>
          </a:p>
          <a:p>
            <a:pPr lvl="0" algn="ctr">
              <a:lnSpc>
                <a:spcPct val="107899"/>
              </a:lnSpc>
            </a:pPr>
            <a:r>
              <a:rPr lang="ko-KR" altLang="en-US" sz="4666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박아진</a:t>
            </a:r>
            <a:r>
              <a:rPr lang="en-US" altLang="ko-KR" sz="4666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sz="4666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이재혁</a:t>
            </a:r>
            <a:r>
              <a:rPr lang="en-US" sz="4666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sz="4666" b="0" i="0" u="none" strike="noStrike" dirty="0" err="1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전진원</a:t>
            </a:r>
            <a:endParaRPr lang="ko-KR" sz="4666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7F3A619-B340-4A94-B2D7-EB627D95F616}"/>
              </a:ext>
            </a:extLst>
          </p:cNvPr>
          <p:cNvSpPr txBox="1"/>
          <p:nvPr/>
        </p:nvSpPr>
        <p:spPr>
          <a:xfrm>
            <a:off x="6165850" y="6823803"/>
            <a:ext cx="12052300" cy="491397"/>
          </a:xfrm>
          <a:prstGeom prst="rect">
            <a:avLst/>
          </a:prstGeom>
        </p:spPr>
        <p:txBody>
          <a:bodyPr lIns="0" tIns="60382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altLang="ko-KR" sz="5000" b="0" i="0" u="none" strike="noStrike" spc="-3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CNN</a:t>
            </a:r>
            <a:r>
              <a:rPr lang="ko-KR" altLang="en-US" sz="5000" b="0" i="0" u="none" strike="noStrike" spc="-3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과 </a:t>
            </a:r>
            <a:r>
              <a:rPr lang="en-US" altLang="ko-KR" sz="5000" b="0" i="0" u="none" strike="noStrike" spc="-300" dirty="0" err="1"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en-US" altLang="ko-KR" sz="5000" b="0" i="0" u="none" strike="noStrike" spc="-3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b="0" i="0" u="none" strike="noStrike" spc="-3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기반 뇌출혈</a:t>
            </a:r>
            <a:r>
              <a:rPr lang="en-US" altLang="ko-KR" sz="5000" spc="-3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b="0" i="0" u="none" strike="noStrike" spc="-3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예측 모델 비교 연구</a:t>
            </a:r>
            <a:endParaRPr lang="ko-KR" sz="5000" b="0" i="0" u="none" strike="noStrike" spc="-3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739900" y="1193800"/>
            <a:ext cx="15595600" cy="1143000"/>
          </a:xfrm>
          <a:prstGeom prst="rect">
            <a:avLst/>
          </a:prstGeom>
        </p:spPr>
        <p:txBody>
          <a:bodyPr lIns="0" tIns="81278" rIns="0" bIns="81278" rtlCol="0" anchor="ctr"/>
          <a:lstStyle/>
          <a:p>
            <a:pPr lvl="0" algn="l">
              <a:lnSpc>
                <a:spcPct val="99600"/>
              </a:lnSpc>
            </a:pPr>
            <a:r>
              <a:rPr lang="ko-KR" sz="7000" b="1" i="0" u="none" strike="noStrike" dirty="0">
                <a:latin typeface="HY견고딕" panose="02030600000101010101" pitchFamily="18" charset="-127"/>
                <a:ea typeface="HY견고딕" panose="02030600000101010101" pitchFamily="18" charset="-127"/>
              </a:rPr>
              <a:t>목</a:t>
            </a:r>
            <a:r>
              <a:rPr lang="en-US" sz="7000" b="1" i="0" u="none" strike="noStrike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latin typeface="HY견고딕" panose="02030600000101010101" pitchFamily="18" charset="-127"/>
                <a:ea typeface="HY견고딕" panose="02030600000101010101" pitchFamily="18" charset="-127"/>
              </a:rPr>
              <a:t>차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39900" y="4622800"/>
            <a:ext cx="10223500" cy="1270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098800" y="4606798"/>
            <a:ext cx="8699500" cy="660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1800" y="4805934"/>
            <a:ext cx="1397000" cy="889000"/>
          </a:xfrm>
          <a:prstGeom prst="rect">
            <a:avLst/>
          </a:prstGeom>
        </p:spPr>
        <p:txBody>
          <a:bodyPr lIns="0" tIns="63354" rIns="0" bIns="63354" rtlCol="0" anchor="ctr"/>
          <a:lstStyle/>
          <a:p>
            <a:pPr lvl="0" algn="ctr">
              <a:lnSpc>
                <a:spcPct val="99600"/>
              </a:lnSpc>
            </a:pPr>
            <a:r>
              <a:rPr lang="en" sz="4988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433300" y="4622800"/>
            <a:ext cx="10223500" cy="1270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3868400" y="4676140"/>
            <a:ext cx="8699500" cy="660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팀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구성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및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역할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82500" y="4813300"/>
            <a:ext cx="1397000" cy="889000"/>
          </a:xfrm>
          <a:prstGeom prst="rect">
            <a:avLst/>
          </a:prstGeom>
        </p:spPr>
        <p:txBody>
          <a:bodyPr lIns="0" tIns="63354" rIns="0" bIns="63354" rtlCol="0" anchor="ctr"/>
          <a:lstStyle/>
          <a:p>
            <a:pPr lvl="0" algn="ctr">
              <a:lnSpc>
                <a:spcPct val="99600"/>
              </a:lnSpc>
            </a:pPr>
            <a:r>
              <a:rPr lang="en" sz="4988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02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39900" y="7137400"/>
            <a:ext cx="10223500" cy="1270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187700" y="7175500"/>
            <a:ext cx="8699500" cy="660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수행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절차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및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방법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01800" y="7317232"/>
            <a:ext cx="1397000" cy="889000"/>
          </a:xfrm>
          <a:prstGeom prst="rect">
            <a:avLst/>
          </a:prstGeom>
        </p:spPr>
        <p:txBody>
          <a:bodyPr lIns="0" tIns="63354" rIns="0" bIns="63354" rtlCol="0" anchor="ctr"/>
          <a:lstStyle/>
          <a:p>
            <a:pPr lvl="0" algn="ctr">
              <a:lnSpc>
                <a:spcPct val="99600"/>
              </a:lnSpc>
            </a:pPr>
            <a:r>
              <a:rPr lang="en" sz="4988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03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433300" y="7137400"/>
            <a:ext cx="10223500" cy="1270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868400" y="7101332"/>
            <a:ext cx="8699500" cy="660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수행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결과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82500" y="7339584"/>
            <a:ext cx="1397000" cy="889000"/>
          </a:xfrm>
          <a:prstGeom prst="rect">
            <a:avLst/>
          </a:prstGeom>
        </p:spPr>
        <p:txBody>
          <a:bodyPr lIns="0" tIns="63354" rIns="0" bIns="63354" rtlCol="0" anchor="ctr"/>
          <a:lstStyle/>
          <a:p>
            <a:pPr lvl="0" algn="ctr">
              <a:lnSpc>
                <a:spcPct val="99600"/>
              </a:lnSpc>
            </a:pPr>
            <a:r>
              <a:rPr lang="en" sz="4988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04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14500" y="10020300"/>
            <a:ext cx="10223500" cy="1270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3187700" y="10087864"/>
            <a:ext cx="8699500" cy="660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자체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평가</a:t>
            </a:r>
            <a:r>
              <a:rPr lang="en-US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55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의견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676400" y="10199116"/>
            <a:ext cx="1397000" cy="889000"/>
          </a:xfrm>
          <a:prstGeom prst="rect">
            <a:avLst/>
          </a:prstGeom>
        </p:spPr>
        <p:txBody>
          <a:bodyPr lIns="0" tIns="63354" rIns="0" bIns="63354" rtlCol="0" anchor="ctr"/>
          <a:lstStyle/>
          <a:p>
            <a:pPr lvl="0" algn="ctr">
              <a:lnSpc>
                <a:spcPct val="99600"/>
              </a:lnSpc>
            </a:pPr>
            <a:r>
              <a:rPr lang="en" sz="4988" b="0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04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16200000">
            <a:off x="7150100" y="7696200"/>
            <a:ext cx="10096500" cy="38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9900" y="1193800"/>
            <a:ext cx="195326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1. </a:t>
            </a:r>
            <a:r>
              <a:rPr lang="ko-KR" sz="70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sz="70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7000" b="1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개요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739899" y="3797300"/>
            <a:ext cx="4433341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197619" y="3935730"/>
            <a:ext cx="3517900" cy="4826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5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선정배경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017499" y="3797300"/>
            <a:ext cx="4433341" cy="1155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334999" y="3935730"/>
            <a:ext cx="3899419" cy="4826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5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기획의도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ECDABD-CFAD-41E4-997C-A3C3A40759AC}"/>
              </a:ext>
            </a:extLst>
          </p:cNvPr>
          <p:cNvSpPr txBox="1"/>
          <p:nvPr/>
        </p:nvSpPr>
        <p:spPr>
          <a:xfrm>
            <a:off x="1729013" y="5911629"/>
            <a:ext cx="12013681" cy="193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41100"/>
              </a:lnSpc>
            </a:pPr>
            <a:r>
              <a:rPr lang="en-US" altLang="ko-KR" sz="45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en-US" altLang="ko-KR" sz="4500" b="0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CT,</a:t>
            </a:r>
            <a:r>
              <a:rPr lang="ko-KR" altLang="en-US" sz="4500" b="0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en-US" altLang="ko-KR" sz="4500" b="0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MRI</a:t>
            </a:r>
            <a:r>
              <a:rPr lang="ko-KR" altLang="en-US" sz="4500" b="0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ko-KR" altLang="en-US" sz="45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등 의료 데이터 판독에는   </a:t>
            </a:r>
            <a:endParaRPr lang="en-US" altLang="ko-KR" sz="45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45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  <a:r>
              <a:rPr lang="ko-KR" altLang="en-US" sz="45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전문의의 경험과 시간 필요</a:t>
            </a:r>
            <a:endParaRPr lang="ko-KR" altLang="en-US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8408E-1FB4-4C95-8122-A6EFDAF49541}"/>
              </a:ext>
            </a:extLst>
          </p:cNvPr>
          <p:cNvSpPr txBox="1"/>
          <p:nvPr/>
        </p:nvSpPr>
        <p:spPr>
          <a:xfrm>
            <a:off x="1729013" y="8710885"/>
            <a:ext cx="8166101" cy="2915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41100"/>
              </a:lnSpc>
            </a:pPr>
            <a:r>
              <a:rPr lang="en-US" altLang="ko-KR" sz="45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ko-KR" altLang="en-US" sz="4500" dirty="0" err="1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딥러닝을</a:t>
            </a:r>
            <a:r>
              <a:rPr lang="ko-KR" altLang="en-US" sz="45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활용한 </a:t>
            </a:r>
            <a:r>
              <a:rPr lang="ko-KR" altLang="en-US" sz="45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뇌출혈    </a:t>
            </a:r>
            <a:endParaRPr lang="en-US" altLang="ko-KR" sz="45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45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  <a:r>
              <a:rPr lang="ko-KR" altLang="en-US" sz="45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진단 보조 </a:t>
            </a:r>
            <a:r>
              <a:rPr lang="ko-KR" altLang="en-US" sz="45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개발</a:t>
            </a:r>
            <a:endParaRPr lang="en-US" altLang="ko-KR" sz="4500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 algn="l">
              <a:lnSpc>
                <a:spcPct val="141100"/>
              </a:lnSpc>
            </a:pPr>
            <a:r>
              <a:rPr lang="en-US" altLang="ko-KR" sz="45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→</a:t>
            </a:r>
            <a:r>
              <a:rPr lang="ko-KR" altLang="en-US" sz="45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45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b="0" i="0" u="none" strike="noStrike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전문의 인력 부족 문제 </a:t>
            </a:r>
            <a:r>
              <a:rPr lang="ko-KR" altLang="en-US" sz="4500" b="0" i="0" u="none" strike="noStrike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해결</a:t>
            </a:r>
            <a:endParaRPr lang="ko-KR" altLang="en-US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F64EB5E6-83EA-4F79-AF7C-52D44BD90CC7}"/>
              </a:ext>
            </a:extLst>
          </p:cNvPr>
          <p:cNvSpPr txBox="1"/>
          <p:nvPr/>
        </p:nvSpPr>
        <p:spPr>
          <a:xfrm>
            <a:off x="13095774" y="5753010"/>
            <a:ext cx="10147300" cy="2209979"/>
          </a:xfrm>
          <a:prstGeom prst="rect">
            <a:avLst/>
          </a:prstGeom>
        </p:spPr>
        <p:txBody>
          <a:bodyPr rtlCol="0" anchor="t"/>
          <a:lstStyle/>
          <a:p>
            <a:pPr marL="571500" indent="-571500">
              <a:lnSpc>
                <a:spcPct val="141100"/>
              </a:lnSpc>
              <a:buFontTx/>
              <a:buChar char="-"/>
            </a:pP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개발한 모델을  의료 데이터 판독 보조   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411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시스템으로 활용</a:t>
            </a:r>
            <a:endParaRPr lang="en-US" sz="4500" b="0" i="0" u="none" strike="noStrike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313848-8050-4133-92DB-C2E1183E4CFE}"/>
              </a:ext>
            </a:extLst>
          </p:cNvPr>
          <p:cNvSpPr txBox="1"/>
          <p:nvPr/>
        </p:nvSpPr>
        <p:spPr>
          <a:xfrm>
            <a:off x="13100256" y="8710885"/>
            <a:ext cx="10326397" cy="193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11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ko-KR" altLang="en-US" sz="45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뇌출혈을 조기 예측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하여 전문의의 소견을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411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보조하는 시스템 기반 마련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39900" y="1193800"/>
            <a:ext cx="195326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개요 </a:t>
            </a:r>
            <a:r>
              <a:rPr lang="en-US" alt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– </a:t>
            </a:r>
            <a:r>
              <a:rPr lang="ko-KR" altLang="en-US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구조</a:t>
            </a:r>
            <a:endParaRPr lang="ko-KR" sz="7000" b="1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754508"/>
              </p:ext>
            </p:extLst>
          </p:nvPr>
        </p:nvGraphicFramePr>
        <p:xfrm>
          <a:off x="2279651" y="3886200"/>
          <a:ext cx="19824698" cy="8343903"/>
        </p:xfrm>
        <a:graphic>
          <a:graphicData uri="http://schemas.openxmlformats.org/drawingml/2006/table">
            <a:tbl>
              <a:tblPr/>
              <a:tblGrid>
                <a:gridCol w="340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0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1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154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구분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활동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비고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676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사전</a:t>
                      </a: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기획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1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프로젝트</a:t>
                      </a: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기획</a:t>
                      </a: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및</a:t>
                      </a: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팀 역할 분담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초기 회의</a:t>
                      </a:r>
                      <a:r>
                        <a:rPr lang="en-US" alt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자료 조사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76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데이터</a:t>
                      </a: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준비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2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뇌 </a:t>
                      </a:r>
                      <a:r>
                        <a:rPr lang="en-US" altLang="ko-KR" sz="3200" b="1" i="0" u="none" strike="noStrike" dirty="0">
                          <a:solidFill>
                            <a:schemeClr val="tx1"/>
                          </a:solidFill>
                          <a:latin typeface="Roboto ExtraBold" panose="02000000000000000000" pitchFamily="2" charset="0"/>
                          <a:ea typeface="Roboto ExtraBold" panose="02000000000000000000" pitchFamily="2" charset="0"/>
                        </a:rPr>
                        <a:t>CT</a:t>
                      </a:r>
                      <a:r>
                        <a:rPr lang="en-US" alt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데이터셋 수집 및 </a:t>
                      </a:r>
                      <a:r>
                        <a:rPr lang="ko-KR" altLang="en-US" sz="3200" b="1" i="0" u="none" strike="noStrike" dirty="0" err="1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전처리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1" i="0" u="none" strike="noStrike" dirty="0" err="1">
                          <a:solidFill>
                            <a:schemeClr val="tx1"/>
                          </a:solidFill>
                          <a:latin typeface="Roboto ExtraBold" panose="02000000000000000000" pitchFamily="2" charset="0"/>
                          <a:ea typeface="Roboto ExtraBold" panose="02000000000000000000" pitchFamily="2" charset="0"/>
                        </a:rPr>
                        <a:t>kaggle</a:t>
                      </a: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데이터</a:t>
                      </a: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참조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154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모델 개발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3 ~ 4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모델 구현</a:t>
                      </a:r>
                      <a:r>
                        <a:rPr lang="en-US" alt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학습</a:t>
                      </a:r>
                      <a:r>
                        <a:rPr lang="en-US" alt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ko-KR" altLang="en-US" sz="3200" b="1" i="0" u="none" strike="noStrike" dirty="0" err="1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하이퍼파라미터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테스트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정확도</a:t>
                      </a:r>
                      <a:r>
                        <a:rPr lang="en-US" altLang="ko-KR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F1-score </a:t>
                      </a: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등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지표 확인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6765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성능 평가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4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모델 성능 비교 및 분석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모델 비교 및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최적의 모델 선정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576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서비스 구현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5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1" i="0" u="none" strike="noStrike" dirty="0" err="1">
                          <a:solidFill>
                            <a:schemeClr val="tx1"/>
                          </a:solidFill>
                          <a:latin typeface="Roboto ExtraBold" panose="02000000000000000000" pitchFamily="2" charset="0"/>
                          <a:ea typeface="Roboto ExtraBold" panose="02000000000000000000" pitchFamily="2" charset="0"/>
                        </a:rPr>
                        <a:t>Streamlit</a:t>
                      </a: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대시보드 제작</a:t>
                      </a:r>
                      <a:r>
                        <a:rPr lang="en-US" altLang="ko-KR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모델 로드 및 예측 기능 구현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Roboto ExtraBold" panose="02000000000000000000" pitchFamily="2" charset="0"/>
                          <a:ea typeface="Roboto ExtraBold" panose="02000000000000000000" pitchFamily="2" charset="0"/>
                        </a:rPr>
                        <a:t>UI/UX</a:t>
                      </a:r>
                      <a:r>
                        <a:rPr 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테스트 포함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576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보고서 작성 및 발표 준비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6 </a:t>
                      </a:r>
                      <a:r>
                        <a:rPr lang="ko-KR" altLang="en-US" sz="3200" b="1" i="0" u="none" strike="noStrike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주차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최종 보고서 작성</a:t>
                      </a:r>
                      <a:r>
                        <a:rPr lang="en-US" altLang="ko-KR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en-US" altLang="ko-KR" sz="3200" b="1" dirty="0">
                          <a:solidFill>
                            <a:schemeClr val="tx1"/>
                          </a:solidFill>
                          <a:latin typeface="Roboto ExtraBold" panose="02000000000000000000" pitchFamily="2" charset="0"/>
                          <a:ea typeface="Roboto ExtraBold" panose="02000000000000000000" pitchFamily="2" charset="0"/>
                        </a:rPr>
                        <a:t>PPT</a:t>
                      </a:r>
                      <a:r>
                        <a:rPr lang="en-US" altLang="ko-KR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 </a:t>
                      </a: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제작 및 발표 준비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시각 자료</a:t>
                      </a:r>
                      <a:r>
                        <a:rPr lang="en-US" altLang="ko-KR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, </a:t>
                      </a:r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Noto Sans KR ExtraBold" panose="020B0200000000000000" pitchFamily="50" charset="-127"/>
                          <a:ea typeface="Noto Sans KR ExtraBold" panose="020B0200000000000000" pitchFamily="50" charset="-127"/>
                        </a:rPr>
                        <a:t>결과 요약</a:t>
                      </a:r>
                      <a:endParaRPr lang="en-US" sz="3200" b="1" dirty="0">
                        <a:solidFill>
                          <a:schemeClr val="tx1"/>
                        </a:solidFill>
                        <a:latin typeface="Noto Sans KR ExtraBold" panose="020B0200000000000000" pitchFamily="50" charset="-127"/>
                        <a:ea typeface="Noto Sans KR ExtraBold" panose="020B02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5EB4B6A-9BCF-4831-A237-0F60F443F738}"/>
              </a:ext>
            </a:extLst>
          </p:cNvPr>
          <p:cNvSpPr txBox="1"/>
          <p:nvPr/>
        </p:nvSpPr>
        <p:spPr>
          <a:xfrm>
            <a:off x="14020800" y="2961129"/>
            <a:ext cx="9906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총 개발 기간</a:t>
            </a:r>
            <a:r>
              <a:rPr lang="en-US" altLang="ko-KR" sz="3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2025.10.06 ~ 2025.11.10</a:t>
            </a:r>
            <a:endParaRPr lang="ko-KR" altLang="en-US" sz="3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39900" y="1193800"/>
            <a:ext cx="195326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sz="64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개요</a:t>
            </a: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7F3AA1AE-DC71-4F47-8493-9A869F511E77}"/>
              </a:ext>
            </a:extLst>
          </p:cNvPr>
          <p:cNvSpPr/>
          <p:nvPr/>
        </p:nvSpPr>
        <p:spPr>
          <a:xfrm>
            <a:off x="2209799" y="4431210"/>
            <a:ext cx="10004153" cy="5039094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532414" y="4649650"/>
            <a:ext cx="8229600" cy="1243874"/>
          </a:xfrm>
          <a:prstGeom prst="rect">
            <a:avLst/>
          </a:prstGeom>
        </p:spPr>
        <p:txBody>
          <a:bodyPr rtlCol="0" anchor="t"/>
          <a:lstStyle/>
          <a:p>
            <a:pPr marL="742950" lvl="0" indent="-742950">
              <a:lnSpc>
                <a:spcPct val="200000"/>
              </a:lnSpc>
              <a:buAutoNum type="arabicPeriod"/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하드웨어</a:t>
            </a: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9900" y="3124200"/>
            <a:ext cx="53848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5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활용</a:t>
            </a:r>
            <a:r>
              <a:rPr lang="en-US" sz="5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5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장비</a:t>
            </a:r>
            <a:r>
              <a:rPr lang="en-US" sz="5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5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및</a:t>
            </a:r>
            <a:r>
              <a:rPr lang="en-US" sz="5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5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재료</a:t>
            </a:r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89A372A2-5184-4ACA-A3C2-B1433D66E604}"/>
              </a:ext>
            </a:extLst>
          </p:cNvPr>
          <p:cNvSpPr/>
          <p:nvPr/>
        </p:nvSpPr>
        <p:spPr>
          <a:xfrm>
            <a:off x="12848952" y="4431209"/>
            <a:ext cx="9379495" cy="5039095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C21A37-0ACB-4DEC-8A60-0262D7545C7E}"/>
              </a:ext>
            </a:extLst>
          </p:cNvPr>
          <p:cNvSpPr txBox="1"/>
          <p:nvPr/>
        </p:nvSpPr>
        <p:spPr>
          <a:xfrm>
            <a:off x="14249400" y="4843247"/>
            <a:ext cx="5943600" cy="434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11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2.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소프트웨어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</a:t>
            </a:r>
          </a:p>
          <a:p>
            <a:pPr lvl="0">
              <a:lnSpc>
                <a:spcPct val="1411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- </a:t>
            </a: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Python</a:t>
            </a:r>
            <a:endParaRPr lang="en-US" altLang="ko-KR" sz="4000" b="0" i="0" u="none" strike="noStrike" dirty="0">
              <a:solidFill>
                <a:srgbClr val="000000"/>
              </a:solidFill>
              <a:latin typeface="Roboto ExtraBold" panose="02000000000000000000" pitchFamily="2" charset="0"/>
              <a:ea typeface="Roboto ExtraBold" panose="02000000000000000000" pitchFamily="2" charset="0"/>
            </a:endParaRPr>
          </a:p>
          <a:p>
            <a:pPr lvl="0">
              <a:lnSpc>
                <a:spcPct val="1411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  - </a:t>
            </a:r>
            <a:r>
              <a:rPr lang="en-US" altLang="ko-KR" sz="4000" b="0" i="0" u="none" strike="noStrike" dirty="0" err="1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Colab</a:t>
            </a:r>
            <a:r>
              <a:rPr lang="en-US" altLang="ko-KR" sz="4000" b="0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 Notebook</a:t>
            </a:r>
            <a:endParaRPr lang="en-US" altLang="ko-KR" sz="4000" dirty="0">
              <a:solidFill>
                <a:srgbClr val="000000"/>
              </a:solidFill>
              <a:latin typeface="Roboto ExtraBold" panose="02000000000000000000" pitchFamily="2" charset="0"/>
              <a:ea typeface="Roboto ExtraBold" panose="02000000000000000000" pitchFamily="2" charset="0"/>
            </a:endParaRPr>
          </a:p>
          <a:p>
            <a:pPr lvl="0">
              <a:lnSpc>
                <a:spcPct val="1411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  - TensorFlow</a:t>
            </a:r>
          </a:p>
          <a:p>
            <a:pPr lvl="0">
              <a:lnSpc>
                <a:spcPct val="1411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  - </a:t>
            </a:r>
            <a:r>
              <a:rPr lang="en-US" altLang="ko-KR" sz="4000" b="0" i="0" u="none" strike="noStrike" dirty="0" err="1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Streamlit</a:t>
            </a:r>
            <a:endParaRPr lang="en-US" altLang="ko-KR" sz="4000" b="0" i="0" u="none" strike="noStrike" dirty="0">
              <a:solidFill>
                <a:srgbClr val="000000"/>
              </a:solidFill>
              <a:latin typeface="Roboto ExtraBold" panose="02000000000000000000" pitchFamily="2" charset="0"/>
              <a:ea typeface="Roboto ExtraBold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FA321F-66EB-407F-980E-00D90EAD21F2}"/>
              </a:ext>
            </a:extLst>
          </p:cNvPr>
          <p:cNvSpPr txBox="1"/>
          <p:nvPr/>
        </p:nvSpPr>
        <p:spPr>
          <a:xfrm>
            <a:off x="3749221" y="6274170"/>
            <a:ext cx="7795985" cy="1840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PC  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</a:t>
            </a: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- Google Cloud</a:t>
            </a:r>
            <a:endParaRPr lang="ko-KR" altLang="en-US" sz="4000" dirty="0"/>
          </a:p>
        </p:txBody>
      </p:sp>
      <p:sp>
        <p:nvSpPr>
          <p:cNvPr id="25" name="순서도: 대체 처리 24">
            <a:extLst>
              <a:ext uri="{FF2B5EF4-FFF2-40B4-BE49-F238E27FC236}">
                <a16:creationId xmlns:a16="http://schemas.microsoft.com/office/drawing/2014/main" id="{DBB03229-78A1-4C7B-B374-8870CB265CFD}"/>
              </a:ext>
            </a:extLst>
          </p:cNvPr>
          <p:cNvSpPr/>
          <p:nvPr/>
        </p:nvSpPr>
        <p:spPr>
          <a:xfrm>
            <a:off x="2245359" y="9658264"/>
            <a:ext cx="19983088" cy="2763786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84D3D74E-9D59-47F7-BADC-0781B8B12CA2}"/>
              </a:ext>
            </a:extLst>
          </p:cNvPr>
          <p:cNvSpPr txBox="1"/>
          <p:nvPr/>
        </p:nvSpPr>
        <p:spPr>
          <a:xfrm>
            <a:off x="3532414" y="10136050"/>
            <a:ext cx="10820400" cy="22098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</a:t>
            </a: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데이터셋</a:t>
            </a:r>
            <a:endParaRPr lang="en-US" alt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141100"/>
              </a:lnSpc>
            </a:pP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kaggle.com(brain hemorrhage)</a:t>
            </a:r>
            <a:endParaRPr lang="en-US" altLang="ko-KR" sz="4000" b="0" i="0" u="none" strike="noStrike" dirty="0">
              <a:solidFill>
                <a:srgbClr val="000000"/>
              </a:solidFill>
              <a:latin typeface="Roboto ExtraBold" panose="02000000000000000000" pitchFamily="2" charset="0"/>
              <a:ea typeface="Roboto ExtraBold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F19206-6760-4221-B1FB-66F290471234}"/>
              </a:ext>
            </a:extLst>
          </p:cNvPr>
          <p:cNvSpPr txBox="1"/>
          <p:nvPr/>
        </p:nvSpPr>
        <p:spPr>
          <a:xfrm>
            <a:off x="14249400" y="10105304"/>
            <a:ext cx="5943600" cy="244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411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4.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추가 도구</a:t>
            </a:r>
            <a:endParaRPr lang="en-US" altLang="ko-KR" sz="4000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1411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- </a:t>
            </a:r>
            <a:r>
              <a:rPr lang="en-US" altLang="ko-KR" sz="4000" b="0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Git/GitHub</a:t>
            </a:r>
          </a:p>
          <a:p>
            <a:endParaRPr lang="ko-KR" altLang="en-US" sz="4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3148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604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-5400000">
            <a:off x="4140200" y="7620000"/>
            <a:ext cx="8534400" cy="38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945240" y="6130200"/>
            <a:ext cx="6624083" cy="33782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</a:t>
            </a:r>
            <a:endParaRPr 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 총괄</a:t>
            </a:r>
            <a:endParaRPr lang="en-US" alt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설계 및 학습</a:t>
            </a:r>
            <a:endParaRPr lang="en-US" alt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결과 분석 및 보고서 작성</a:t>
            </a:r>
            <a:endParaRPr lang="en-US" alt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28800" y="4076700"/>
            <a:ext cx="53848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5500" b="1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박아진</a:t>
            </a:r>
            <a:endParaRPr lang="en" sz="5500" b="1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-5400000">
            <a:off x="11709400" y="7620000"/>
            <a:ext cx="8534400" cy="38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614479" y="5802857"/>
            <a:ext cx="5937250" cy="31115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200000"/>
              </a:lnSpc>
            </a:pPr>
            <a:endParaRPr 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</a:t>
            </a:r>
            <a:r>
              <a:rPr 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000" b="0" i="0" u="none" strike="noStrike" dirty="0" err="1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전처리</a:t>
            </a:r>
            <a:endParaRPr lang="en-US" alt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학습 보조</a:t>
            </a:r>
            <a:endParaRPr lang="en-US" altLang="ko-KR" sz="4000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2000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결과 시각화</a:t>
            </a:r>
            <a:br>
              <a:rPr 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</a:br>
            <a:endParaRPr 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448800" y="4076700"/>
            <a:ext cx="53848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55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이재혁</a:t>
            </a:r>
            <a:endParaRPr lang="en" sz="5500" b="1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055295" y="5684928"/>
            <a:ext cx="6471455" cy="33528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200000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     </a:t>
            </a:r>
            <a:endParaRPr 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학습 모니터링</a:t>
            </a:r>
            <a:endParaRPr lang="en-US" altLang="ko-KR" sz="4000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발표 자료 제작</a:t>
            </a:r>
            <a:endParaRPr lang="en-US" altLang="ko-KR" sz="4000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457200" lvl="0" indent="-457200">
              <a:lnSpc>
                <a:spcPct val="200000"/>
              </a:lnSpc>
              <a:buFontTx/>
              <a:buChar char="-"/>
            </a:pP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대시보드 구현</a:t>
            </a:r>
            <a:br>
              <a:rPr 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</a:br>
            <a:endParaRPr 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056100" y="4076700"/>
            <a:ext cx="53848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55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전진원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39900" y="1104900"/>
            <a:ext cx="19532600" cy="13208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</a:t>
            </a:r>
            <a:r>
              <a:rPr lang="en-US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구성</a:t>
            </a:r>
            <a:r>
              <a:rPr lang="en-US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및</a:t>
            </a:r>
            <a:r>
              <a:rPr lang="en-US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역할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9D1120-DC3C-4CA8-B129-C9E6DDB7000F}"/>
              </a:ext>
            </a:extLst>
          </p:cNvPr>
          <p:cNvSpPr txBox="1"/>
          <p:nvPr/>
        </p:nvSpPr>
        <p:spPr>
          <a:xfrm>
            <a:off x="2662917" y="5370014"/>
            <a:ext cx="3733800" cy="672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1100"/>
              </a:lnSpc>
            </a:pPr>
            <a:r>
              <a:rPr lang="ko-KR" altLang="ko-KR" sz="3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altLang="ko-KR" sz="3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ko-KR" sz="3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A008C0-1B43-4131-9940-D3DDD9AF3962}"/>
              </a:ext>
            </a:extLst>
          </p:cNvPr>
          <p:cNvSpPr txBox="1"/>
          <p:nvPr/>
        </p:nvSpPr>
        <p:spPr>
          <a:xfrm>
            <a:off x="17907000" y="5370014"/>
            <a:ext cx="3733800" cy="672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1100"/>
              </a:lnSpc>
            </a:pPr>
            <a:r>
              <a:rPr lang="ko-KR" altLang="ko-KR" sz="3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altLang="ko-KR" sz="3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3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팀원</a:t>
            </a:r>
            <a:r>
              <a:rPr lang="en-US" altLang="ko-KR" sz="3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endParaRPr lang="ko-KR" altLang="ko-KR" sz="3000" b="1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CBDDEF-C23B-45D4-8C76-F838BC326343}"/>
              </a:ext>
            </a:extLst>
          </p:cNvPr>
          <p:cNvSpPr txBox="1"/>
          <p:nvPr/>
        </p:nvSpPr>
        <p:spPr>
          <a:xfrm>
            <a:off x="10317385" y="5370014"/>
            <a:ext cx="3733800" cy="672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1100"/>
              </a:lnSpc>
            </a:pPr>
            <a:r>
              <a:rPr lang="ko-KR" altLang="ko-KR" sz="3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altLang="ko-KR" sz="3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3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팀원</a:t>
            </a:r>
            <a:r>
              <a:rPr lang="en-US" altLang="ko-KR" sz="3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endParaRPr lang="ko-KR" altLang="ko-KR" sz="3000" b="1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9814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39900" y="1193800"/>
            <a:ext cx="195326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프로젝트</a:t>
            </a:r>
            <a:r>
              <a:rPr lang="en-US" sz="64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7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수행 절차 및 방법</a:t>
            </a:r>
            <a:endParaRPr lang="ko-KR" sz="7000" b="1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6300" y="3124200"/>
            <a:ext cx="53848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endParaRPr lang="ko-KR" sz="5000" b="1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7F3AA1AE-DC71-4F47-8493-9A869F511E77}"/>
              </a:ext>
            </a:extLst>
          </p:cNvPr>
          <p:cNvSpPr/>
          <p:nvPr/>
        </p:nvSpPr>
        <p:spPr>
          <a:xfrm>
            <a:off x="1246120" y="3731215"/>
            <a:ext cx="10681607" cy="3823790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1890010" y="3975100"/>
            <a:ext cx="8229600" cy="1243874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2000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1. </a:t>
            </a: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 수집 및 </a:t>
            </a:r>
            <a:r>
              <a:rPr lang="ko-KR" altLang="en-US" sz="4000" b="0" i="0" u="none" strike="noStrike" dirty="0" err="1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전처리</a:t>
            </a:r>
            <a:endParaRPr lang="en-US" alt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FA321F-66EB-407F-980E-00D90EAD21F2}"/>
              </a:ext>
            </a:extLst>
          </p:cNvPr>
          <p:cNvSpPr txBox="1"/>
          <p:nvPr/>
        </p:nvSpPr>
        <p:spPr>
          <a:xfrm>
            <a:off x="2333467" y="5180740"/>
            <a:ext cx="8464731" cy="184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약 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5,000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장의 뇌 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CT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의료 데이터 수집</a:t>
            </a:r>
            <a:endParaRPr lang="en-US" altLang="ko-KR" sz="4000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이미지 크기 통일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정규화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증강</a:t>
            </a:r>
            <a:endParaRPr lang="ko-KR" altLang="en-US" sz="4000" dirty="0"/>
          </a:p>
        </p:txBody>
      </p:sp>
      <p:sp>
        <p:nvSpPr>
          <p:cNvPr id="44" name="순서도: 대체 처리 43">
            <a:extLst>
              <a:ext uri="{FF2B5EF4-FFF2-40B4-BE49-F238E27FC236}">
                <a16:creationId xmlns:a16="http://schemas.microsoft.com/office/drawing/2014/main" id="{04FB6095-A140-4BD2-A10F-15E16E91EBF2}"/>
              </a:ext>
            </a:extLst>
          </p:cNvPr>
          <p:cNvSpPr/>
          <p:nvPr/>
        </p:nvSpPr>
        <p:spPr>
          <a:xfrm>
            <a:off x="1284498" y="7781426"/>
            <a:ext cx="10681607" cy="3823790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순서도: 대체 처리 44">
            <a:extLst>
              <a:ext uri="{FF2B5EF4-FFF2-40B4-BE49-F238E27FC236}">
                <a16:creationId xmlns:a16="http://schemas.microsoft.com/office/drawing/2014/main" id="{92AB1D16-0C73-4FE1-B3C7-3C93FFB370B1}"/>
              </a:ext>
            </a:extLst>
          </p:cNvPr>
          <p:cNvSpPr/>
          <p:nvPr/>
        </p:nvSpPr>
        <p:spPr>
          <a:xfrm>
            <a:off x="12211050" y="7834810"/>
            <a:ext cx="10681607" cy="3823790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순서도: 대체 처리 45">
            <a:extLst>
              <a:ext uri="{FF2B5EF4-FFF2-40B4-BE49-F238E27FC236}">
                <a16:creationId xmlns:a16="http://schemas.microsoft.com/office/drawing/2014/main" id="{FDA16376-5E05-48F8-ADBE-55753EC2B852}"/>
              </a:ext>
            </a:extLst>
          </p:cNvPr>
          <p:cNvSpPr/>
          <p:nvPr/>
        </p:nvSpPr>
        <p:spPr>
          <a:xfrm>
            <a:off x="12178393" y="3773060"/>
            <a:ext cx="10681607" cy="3823790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0B529748-2862-400E-92AD-CA03511DE8F6}"/>
              </a:ext>
            </a:extLst>
          </p:cNvPr>
          <p:cNvSpPr txBox="1"/>
          <p:nvPr/>
        </p:nvSpPr>
        <p:spPr>
          <a:xfrm>
            <a:off x="12867505" y="3931895"/>
            <a:ext cx="8229600" cy="1243874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2000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2. </a:t>
            </a: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설계 및 학습</a:t>
            </a:r>
            <a:endParaRPr lang="en-US" alt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87BDB8-BEDE-4442-A883-73039C9651D2}"/>
              </a:ext>
            </a:extLst>
          </p:cNvPr>
          <p:cNvSpPr txBox="1"/>
          <p:nvPr/>
        </p:nvSpPr>
        <p:spPr>
          <a:xfrm>
            <a:off x="12501777" y="5137535"/>
            <a:ext cx="11458709" cy="184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lnSpc>
                <a:spcPct val="150000"/>
              </a:lnSpc>
              <a:buFontTx/>
              <a:buChar char="-"/>
            </a:pP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CNN,</a:t>
            </a:r>
            <a:r>
              <a:rPr lang="ko-KR" altLang="en-US" sz="4000" dirty="0">
                <a:solidFill>
                  <a:srgbClr val="000000"/>
                </a:solidFill>
                <a:latin typeface="Roboto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en-US" altLang="ko-KR" sz="4000" dirty="0" err="1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ko-KR" altLang="en-US" sz="4000" dirty="0">
                <a:solidFill>
                  <a:srgbClr val="000000"/>
                </a:solidFill>
                <a:latin typeface="Roboto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from</a:t>
            </a:r>
            <a:r>
              <a:rPr lang="ko-KR" altLang="en-US" sz="4000" dirty="0">
                <a:solidFill>
                  <a:srgbClr val="000000"/>
                </a:solidFill>
                <a:latin typeface="Roboto ExtraBold" panose="02000000000000000000" pitchFamily="2" charset="0"/>
                <a:ea typeface="Noto Sans KR ExtraBold" panose="020B0200000000000000" pitchFamily="50" charset="-127"/>
              </a:rPr>
              <a:t> </a:t>
            </a: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scratch,</a:t>
            </a: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     </a:t>
            </a:r>
            <a:r>
              <a:rPr lang="en-US" altLang="ko-KR" sz="4000" dirty="0" err="1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 50, </a:t>
            </a:r>
            <a:r>
              <a:rPr lang="en-US" altLang="ko-KR" sz="4000" dirty="0" err="1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en-US" altLang="ko-KR" sz="4000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 fine-tuned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사용</a:t>
            </a:r>
            <a:endParaRPr lang="ko-KR" altLang="en-US" sz="4000" dirty="0">
              <a:latin typeface="Roboto ExtraBold" panose="02000000000000000000" pitchFamily="2" charset="0"/>
            </a:endParaRP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B0F3769D-F279-4890-ADEE-039ADFE5F834}"/>
              </a:ext>
            </a:extLst>
          </p:cNvPr>
          <p:cNvSpPr txBox="1"/>
          <p:nvPr/>
        </p:nvSpPr>
        <p:spPr>
          <a:xfrm>
            <a:off x="1917224" y="8138708"/>
            <a:ext cx="8229600" cy="1243874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2000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</a:t>
            </a: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 </a:t>
            </a: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평가 및 비교</a:t>
            </a:r>
            <a:endParaRPr lang="en-US" alt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641E65-4626-41C3-AE7A-E0420E2EA416}"/>
              </a:ext>
            </a:extLst>
          </p:cNvPr>
          <p:cNvSpPr txBox="1"/>
          <p:nvPr/>
        </p:nvSpPr>
        <p:spPr>
          <a:xfrm>
            <a:off x="2360681" y="9344348"/>
            <a:ext cx="8464731" cy="1840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-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설계 시 사용한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간 성능 차이  </a:t>
            </a:r>
            <a:endParaRPr lang="en-US" altLang="ko-KR" sz="4000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lvl="0">
              <a:lnSpc>
                <a:spcPct val="150000"/>
              </a:lnSpc>
            </a:pP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분석 후 최적의 모델 선정</a:t>
            </a:r>
            <a:endParaRPr lang="ko-KR" altLang="en-US" sz="4000" dirty="0"/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8D0EC218-C009-4C56-80E3-3871046144C8}"/>
              </a:ext>
            </a:extLst>
          </p:cNvPr>
          <p:cNvSpPr txBox="1"/>
          <p:nvPr/>
        </p:nvSpPr>
        <p:spPr>
          <a:xfrm>
            <a:off x="12878391" y="8106373"/>
            <a:ext cx="8229600" cy="1243874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2000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4. </a:t>
            </a:r>
            <a:r>
              <a:rPr lang="en-US" altLang="ko-KR" sz="4000" b="0" i="0" u="none" strike="noStrike" dirty="0" err="1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Streamlit</a:t>
            </a:r>
            <a:r>
              <a:rPr lang="en-US" altLang="ko-KR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000" b="0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대시 보드 구현</a:t>
            </a:r>
            <a:endParaRPr lang="en-US" altLang="ko-KR" sz="4000" b="0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239D5E-EA5F-4695-9D23-79414D6E4FA0}"/>
              </a:ext>
            </a:extLst>
          </p:cNvPr>
          <p:cNvSpPr txBox="1"/>
          <p:nvPr/>
        </p:nvSpPr>
        <p:spPr>
          <a:xfrm>
            <a:off x="13158228" y="9395793"/>
            <a:ext cx="8464731" cy="184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lnSpc>
                <a:spcPct val="150000"/>
              </a:lnSpc>
              <a:buFontTx/>
              <a:buChar char="-"/>
            </a:pP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사용자 친화적 </a:t>
            </a:r>
            <a:r>
              <a:rPr lang="en-US" altLang="ko-KR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UI/UX </a:t>
            </a:r>
            <a:r>
              <a:rPr lang="ko-KR" altLang="en-US" sz="4000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설계</a:t>
            </a:r>
            <a:endParaRPr lang="en-US" altLang="ko-KR" sz="4000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 marL="571500" lvl="0" indent="-571500">
              <a:lnSpc>
                <a:spcPct val="150000"/>
              </a:lnSpc>
              <a:buFontTx/>
              <a:buChar char="-"/>
            </a:pPr>
            <a:r>
              <a:rPr lang="ko-KR" altLang="en-US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개발한 모델을 대시 보드에 로드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F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31674" y="29497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수행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931539-D225-41BD-A8A5-10D942D79068}"/>
              </a:ext>
            </a:extLst>
          </p:cNvPr>
          <p:cNvSpPr txBox="1"/>
          <p:nvPr/>
        </p:nvSpPr>
        <p:spPr>
          <a:xfrm>
            <a:off x="1739900" y="3505200"/>
            <a:ext cx="8089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CNN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신경망으로 학습한 결과</a:t>
            </a:r>
            <a:endParaRPr lang="ko-KR" altLang="en-US" sz="5000" dirty="0">
              <a:latin typeface="Roboto ExtraBold" panose="02000000000000000000" pitchFamily="2" charset="0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EBB3E1A2-CCA6-4004-A1D7-A2F037C02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4351" y="3744358"/>
            <a:ext cx="12230098" cy="815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C9E8680-0C15-4454-AFB8-A9BEE3962D55}"/>
              </a:ext>
            </a:extLst>
          </p:cNvPr>
          <p:cNvSpPr txBox="1"/>
          <p:nvPr/>
        </p:nvSpPr>
        <p:spPr>
          <a:xfrm>
            <a:off x="1479551" y="5545451"/>
            <a:ext cx="80899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99.13%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→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비정상적으로 높은 확률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AE5187-AC33-461C-ACEB-6B02562F659B}"/>
              </a:ext>
            </a:extLst>
          </p:cNvPr>
          <p:cNvSpPr txBox="1"/>
          <p:nvPr/>
        </p:nvSpPr>
        <p:spPr>
          <a:xfrm>
            <a:off x="1457427" y="8573031"/>
            <a:ext cx="10093223" cy="3086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정확도의 신뢰도를 높이기  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위해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학습률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중심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하이퍼파라미터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튜닝 필요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31674" y="29497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수행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931539-D225-41BD-A8A5-10D942D79068}"/>
              </a:ext>
            </a:extLst>
          </p:cNvPr>
          <p:cNvSpPr txBox="1"/>
          <p:nvPr/>
        </p:nvSpPr>
        <p:spPr>
          <a:xfrm>
            <a:off x="1739900" y="3505200"/>
            <a:ext cx="8089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하이퍼파라미터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튜닝 결과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E8680-0C15-4454-AFB8-A9BEE3962D55}"/>
              </a:ext>
            </a:extLst>
          </p:cNvPr>
          <p:cNvSpPr txBox="1"/>
          <p:nvPr/>
        </p:nvSpPr>
        <p:spPr>
          <a:xfrm>
            <a:off x="1129720" y="4962645"/>
            <a:ext cx="9285918" cy="1009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학습률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0.01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일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때의 정확도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75%</a:t>
            </a:r>
            <a:endParaRPr lang="ko-KR" altLang="en-US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2F5834-3395-476C-916E-3B131C648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2773" y="3457452"/>
            <a:ext cx="11944929" cy="84661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0D963F-4087-49E3-B408-D3A7F970666D}"/>
              </a:ext>
            </a:extLst>
          </p:cNvPr>
          <p:cNvSpPr txBox="1"/>
          <p:nvPr/>
        </p:nvSpPr>
        <p:spPr>
          <a:xfrm>
            <a:off x="1129719" y="6243201"/>
            <a:ext cx="10245623" cy="1009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학습률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0.001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일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때의 정확도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약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59%</a:t>
            </a:r>
            <a:endParaRPr lang="ko-KR" altLang="en-US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F7E00A-759C-4EDC-97CE-771229812E59}"/>
              </a:ext>
            </a:extLst>
          </p:cNvPr>
          <p:cNvSpPr txBox="1"/>
          <p:nvPr/>
        </p:nvSpPr>
        <p:spPr>
          <a:xfrm>
            <a:off x="1129719" y="7464014"/>
            <a:ext cx="10245622" cy="1009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3)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학습률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0.0001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일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때의 정확도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: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약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57%</a:t>
            </a:r>
            <a:endParaRPr lang="ko-KR" altLang="en-US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019B1-D1EE-4253-ACAD-9705E534EB25}"/>
              </a:ext>
            </a:extLst>
          </p:cNvPr>
          <p:cNvSpPr txBox="1"/>
          <p:nvPr/>
        </p:nvSpPr>
        <p:spPr>
          <a:xfrm>
            <a:off x="1717777" y="9476976"/>
            <a:ext cx="8793502" cy="2753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&lt;</a:t>
            </a:r>
            <a:r>
              <a:rPr lang="ko-KR" altLang="en-US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실제 테스트 결과</a:t>
            </a:r>
            <a:r>
              <a:rPr lang="en-US" altLang="ko-KR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정확도는 높았지만</a:t>
            </a:r>
            <a:r>
              <a:rPr lang="en-US" altLang="ko-KR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모델의 </a:t>
            </a:r>
            <a:r>
              <a:rPr lang="ko-KR" altLang="en-US" sz="40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정답률이</a:t>
            </a:r>
            <a:r>
              <a:rPr lang="ko-KR" altLang="en-US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좋지 않았음 </a:t>
            </a:r>
            <a:r>
              <a:rPr lang="en-US" altLang="ko-KR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→ </a:t>
            </a:r>
            <a:r>
              <a:rPr lang="ko-KR" altLang="en-US" sz="4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변경 필요</a:t>
            </a:r>
          </a:p>
        </p:txBody>
      </p:sp>
    </p:spTree>
    <p:extLst>
      <p:ext uri="{BB962C8B-B14F-4D97-AF65-F5344CB8AC3E}">
        <p14:creationId xmlns:p14="http://schemas.microsoft.com/office/powerpoint/2010/main" val="3206619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31674" y="29497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수행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931539-D225-41BD-A8A5-10D942D79068}"/>
              </a:ext>
            </a:extLst>
          </p:cNvPr>
          <p:cNvSpPr txBox="1"/>
          <p:nvPr/>
        </p:nvSpPr>
        <p:spPr>
          <a:xfrm>
            <a:off x="1739900" y="3505200"/>
            <a:ext cx="8089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 err="1"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en-US" altLang="ko-KR" sz="50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 from scratch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신경망으로 학습한 결과</a:t>
            </a:r>
            <a:endParaRPr lang="ko-KR" altLang="en-US" sz="5000" dirty="0">
              <a:latin typeface="Roboto ExtraBold" panose="020000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E8680-0C15-4454-AFB8-A9BEE3962D55}"/>
              </a:ext>
            </a:extLst>
          </p:cNvPr>
          <p:cNvSpPr txBox="1"/>
          <p:nvPr/>
        </p:nvSpPr>
        <p:spPr>
          <a:xfrm>
            <a:off x="1479551" y="5878595"/>
            <a:ext cx="80899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84.50%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→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우수한 정확도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AE5187-AC33-461C-ACEB-6B02562F659B}"/>
              </a:ext>
            </a:extLst>
          </p:cNvPr>
          <p:cNvSpPr txBox="1"/>
          <p:nvPr/>
        </p:nvSpPr>
        <p:spPr>
          <a:xfrm>
            <a:off x="1457427" y="8573031"/>
            <a:ext cx="10093223" cy="3086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CNN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신경망과 마찬가지로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정확도는 높지만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실제 테스트 시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오답률이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높았다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  <a:endParaRPr lang="ko-KR" altLang="en-US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027504-BC08-40B1-82CA-C090F09B8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2716" y="3326576"/>
            <a:ext cx="12968772" cy="888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19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31674" y="29497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수행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931539-D225-41BD-A8A5-10D942D79068}"/>
              </a:ext>
            </a:extLst>
          </p:cNvPr>
          <p:cNvSpPr txBox="1"/>
          <p:nvPr/>
        </p:nvSpPr>
        <p:spPr>
          <a:xfrm>
            <a:off x="1739900" y="3505200"/>
            <a:ext cx="8089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 err="1"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en-US" altLang="ko-KR" sz="50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 50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신경망으로 학습한 결과</a:t>
            </a:r>
            <a:endParaRPr lang="ko-KR" altLang="en-US" sz="5000" dirty="0">
              <a:latin typeface="Roboto ExtraBold" panose="020000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E8680-0C15-4454-AFB8-A9BEE3962D55}"/>
              </a:ext>
            </a:extLst>
          </p:cNvPr>
          <p:cNvSpPr txBox="1"/>
          <p:nvPr/>
        </p:nvSpPr>
        <p:spPr>
          <a:xfrm>
            <a:off x="1416050" y="6077953"/>
            <a:ext cx="80899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80.45%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→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준수한 정확도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AE5187-AC33-461C-ACEB-6B02562F659B}"/>
              </a:ext>
            </a:extLst>
          </p:cNvPr>
          <p:cNvSpPr txBox="1"/>
          <p:nvPr/>
        </p:nvSpPr>
        <p:spPr>
          <a:xfrm>
            <a:off x="1393927" y="8891859"/>
            <a:ext cx="9197874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en-US" altLang="ko-KR" sz="4500" dirty="0" err="1">
                <a:latin typeface="Roboto ExtraBold" panose="02000000000000000000" pitchFamily="2" charset="0"/>
                <a:ea typeface="Roboto ExtraBold" panose="02000000000000000000" pitchFamily="2" charset="0"/>
              </a:rPr>
              <a:t>RestNet</a:t>
            </a:r>
            <a:r>
              <a:rPr lang="en-US" altLang="ko-KR" sz="45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 50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 또한 정확도만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높고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올바른 학습이 되지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않았다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7ADEA3C-976C-401B-B59B-14D840A67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9841" y="3247103"/>
            <a:ext cx="12954675" cy="86114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9710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31674" y="29497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수행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931539-D225-41BD-A8A5-10D942D79068}"/>
              </a:ext>
            </a:extLst>
          </p:cNvPr>
          <p:cNvSpPr txBox="1"/>
          <p:nvPr/>
        </p:nvSpPr>
        <p:spPr>
          <a:xfrm>
            <a:off x="1739900" y="3505200"/>
            <a:ext cx="12433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 err="1"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en-US" altLang="ko-KR" sz="50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 50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신경망을 </a:t>
            </a:r>
            <a:r>
              <a:rPr lang="en-US" altLang="ko-KR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Fine-tuning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한 결과</a:t>
            </a:r>
            <a:endParaRPr lang="ko-KR" altLang="en-US" sz="5000" dirty="0">
              <a:latin typeface="Roboto ExtraBold" panose="020000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9E8680-0C15-4454-AFB8-A9BEE3962D55}"/>
              </a:ext>
            </a:extLst>
          </p:cNvPr>
          <p:cNvSpPr txBox="1"/>
          <p:nvPr/>
        </p:nvSpPr>
        <p:spPr>
          <a:xfrm>
            <a:off x="2590800" y="5230574"/>
            <a:ext cx="80899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정확도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87.83%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→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높은 정확도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AE5187-AC33-461C-ACEB-6B02562F659B}"/>
              </a:ext>
            </a:extLst>
          </p:cNvPr>
          <p:cNvSpPr txBox="1"/>
          <p:nvPr/>
        </p:nvSpPr>
        <p:spPr>
          <a:xfrm>
            <a:off x="11277600" y="5230574"/>
            <a:ext cx="9197874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가장 이상적인 정확도가 나왔으며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실제 테스트 결과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정답률도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좋았다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495226E-DFAE-44FE-A005-0AEB653CC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7122" y="8569325"/>
            <a:ext cx="21069755" cy="37386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6833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</a:t>
            </a:r>
            <a:r>
              <a:rPr lang="en-US" alt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수행</a:t>
            </a:r>
            <a:r>
              <a:rPr 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경과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57E0B-DF5E-41C2-BD55-E890B9A58CA4}"/>
              </a:ext>
            </a:extLst>
          </p:cNvPr>
          <p:cNvSpPr txBox="1"/>
          <p:nvPr/>
        </p:nvSpPr>
        <p:spPr>
          <a:xfrm>
            <a:off x="2276021" y="3505200"/>
            <a:ext cx="8089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 err="1">
                <a:latin typeface="Roboto ExtraBold" panose="02000000000000000000" pitchFamily="2" charset="0"/>
                <a:ea typeface="Roboto ExtraBold" panose="02000000000000000000" pitchFamily="2" charset="0"/>
              </a:rPr>
              <a:t>Streamlit</a:t>
            </a:r>
            <a:r>
              <a:rPr lang="en-US" altLang="ko-KR" sz="50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 </a:t>
            </a:r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대시보드 개발</a:t>
            </a:r>
            <a:endParaRPr lang="ko-KR" altLang="en-US" sz="5000" dirty="0">
              <a:latin typeface="Roboto ExtraBold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AD297-A1E1-4EAD-A7AA-188905B53EF1}"/>
              </a:ext>
            </a:extLst>
          </p:cNvPr>
          <p:cNvSpPr txBox="1"/>
          <p:nvPr/>
        </p:nvSpPr>
        <p:spPr>
          <a:xfrm>
            <a:off x="2015672" y="5545451"/>
            <a:ext cx="80899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시도 해 본 모델을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</a:t>
            </a:r>
            <a:r>
              <a:rPr lang="en-US" altLang="ko-KR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Streamlit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에 로드 시킴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F6848-A10C-4D45-9D3D-779A96332B51}"/>
              </a:ext>
            </a:extLst>
          </p:cNvPr>
          <p:cNvSpPr txBox="1"/>
          <p:nvPr/>
        </p:nvSpPr>
        <p:spPr>
          <a:xfrm>
            <a:off x="1993548" y="8573031"/>
            <a:ext cx="10093223" cy="3086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예측 결과를 뇌출혈로 판단할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경우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4500" dirty="0">
                <a:solidFill>
                  <a:srgbClr val="FF0000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Grad-CAM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을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활용하여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뇌출혈 의심 부위 확인 가능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163719-2C14-4948-AD56-77E8C9D66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0" y="2965074"/>
            <a:ext cx="10093223" cy="93792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256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5. </a:t>
            </a:r>
            <a:r>
              <a:rPr lang="ko-KR" alt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자체 평가</a:t>
            </a:r>
            <a:endParaRPr lang="ko-KR" sz="7000" b="1" i="0" u="none" strike="noStrike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57E0B-DF5E-41C2-BD55-E890B9A58CA4}"/>
              </a:ext>
            </a:extLst>
          </p:cNvPr>
          <p:cNvSpPr txBox="1"/>
          <p:nvPr/>
        </p:nvSpPr>
        <p:spPr>
          <a:xfrm>
            <a:off x="1739900" y="3505200"/>
            <a:ext cx="8089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잘한 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AD297-A1E1-4EAD-A7AA-188905B53EF1}"/>
              </a:ext>
            </a:extLst>
          </p:cNvPr>
          <p:cNvSpPr txBox="1"/>
          <p:nvPr/>
        </p:nvSpPr>
        <p:spPr>
          <a:xfrm>
            <a:off x="2667000" y="4712064"/>
            <a:ext cx="1579245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</a:t>
            </a:r>
            <a:r>
              <a:rPr lang="en-US" altLang="ko-KR" sz="45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) CNN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과 </a:t>
            </a:r>
            <a:r>
              <a:rPr lang="en-US" altLang="ko-KR" sz="4500" dirty="0" err="1"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en-US" altLang="ko-KR" sz="4500" dirty="0">
                <a:latin typeface="Roboto ExtraBold" panose="02000000000000000000" pitchFamily="2" charset="0"/>
                <a:ea typeface="Roboto ExtraBold" panose="02000000000000000000" pitchFamily="2" charset="0"/>
              </a:rPr>
              <a:t>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계열 신경망 등 다양한 신경망으로 학습함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 →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모델 성능을 비교하여 더 정확한 모델을 선택할 수 있었다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F6848-A10C-4D45-9D3D-779A96332B51}"/>
              </a:ext>
            </a:extLst>
          </p:cNvPr>
          <p:cNvSpPr txBox="1"/>
          <p:nvPr/>
        </p:nvSpPr>
        <p:spPr>
          <a:xfrm>
            <a:off x="2644877" y="7333484"/>
            <a:ext cx="12182373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en-US" altLang="ko-KR" sz="4500" dirty="0" err="1">
                <a:latin typeface="Roboto ExtraBold" panose="02000000000000000000" pitchFamily="2" charset="0"/>
                <a:ea typeface="Roboto ExtraBold" panose="02000000000000000000" pitchFamily="2" charset="0"/>
              </a:rPr>
              <a:t>ResNet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50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신경망을 활용하여 데이터가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제한적인 환경에서도 </a:t>
            </a:r>
            <a:r>
              <a:rPr lang="ko-KR" altLang="en-US" sz="45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높은 성능을 달성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하였다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1AE98D-5FB1-4BF8-AB7A-149686334256}"/>
              </a:ext>
            </a:extLst>
          </p:cNvPr>
          <p:cNvSpPr txBox="1"/>
          <p:nvPr/>
        </p:nvSpPr>
        <p:spPr>
          <a:xfrm>
            <a:off x="2639622" y="9954904"/>
            <a:ext cx="15038778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개발한 모델을 활용하여 전문의 보조 시스템을 구축할 수 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있는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기반을 마련하였다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→ </a:t>
            </a:r>
            <a:r>
              <a:rPr lang="ko-KR" altLang="en-US" sz="45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전문의 인력 부족 문제 해소</a:t>
            </a:r>
            <a:endParaRPr lang="en-US" altLang="ko-KR" sz="4500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425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6300" y="2590800"/>
            <a:ext cx="22669500" cy="50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39900" y="1333500"/>
            <a:ext cx="155321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5. </a:t>
            </a:r>
            <a:r>
              <a:rPr lang="ko-KR" altLang="en-US" sz="7000" b="1" i="0" u="none" strike="noStrike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자체 평가</a:t>
            </a:r>
            <a:endParaRPr lang="ko-KR" sz="7000" b="1" i="0" u="none" strike="noStrike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57E0B-DF5E-41C2-BD55-E890B9A58CA4}"/>
              </a:ext>
            </a:extLst>
          </p:cNvPr>
          <p:cNvSpPr txBox="1"/>
          <p:nvPr/>
        </p:nvSpPr>
        <p:spPr>
          <a:xfrm>
            <a:off x="1739900" y="3505200"/>
            <a:ext cx="8089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개선점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AD297-A1E1-4EAD-A7AA-188905B53EF1}"/>
              </a:ext>
            </a:extLst>
          </p:cNvPr>
          <p:cNvSpPr txBox="1"/>
          <p:nvPr/>
        </p:nvSpPr>
        <p:spPr>
          <a:xfrm>
            <a:off x="1295400" y="4771105"/>
            <a:ext cx="94488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1)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데이터셋이 상대적으로 부족하여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일부 모델 성능이 제한될 수 있음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7D4CC4-4B4B-4D83-B0BF-BF3FA7573F96}"/>
              </a:ext>
            </a:extLst>
          </p:cNvPr>
          <p:cNvSpPr txBox="1"/>
          <p:nvPr/>
        </p:nvSpPr>
        <p:spPr>
          <a:xfrm>
            <a:off x="1295400" y="7453973"/>
            <a:ext cx="99060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단일 기관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/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단일 장비 데이터 기반이기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때문에 일반화 가능성이 다소 낮음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95E9FA-6F2E-476F-9F57-00F8064E3FD8}"/>
              </a:ext>
            </a:extLst>
          </p:cNvPr>
          <p:cNvSpPr txBox="1"/>
          <p:nvPr/>
        </p:nvSpPr>
        <p:spPr>
          <a:xfrm>
            <a:off x="1295400" y="9906000"/>
            <a:ext cx="99060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3)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실제 모델의 성능을 의료진에게 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검토받는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</a:t>
            </a:r>
            <a:r>
              <a:rPr lang="ko-KR" altLang="en-US" sz="4500" dirty="0">
                <a:solidFill>
                  <a:srgbClr val="FF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신뢰 확보 작업 필요</a:t>
            </a:r>
            <a:endParaRPr lang="en-US" altLang="ko-KR" sz="4500" dirty="0">
              <a:solidFill>
                <a:srgbClr val="FF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B9FBF1-2111-4A62-A7EA-786FB19BC9C0}"/>
              </a:ext>
            </a:extLst>
          </p:cNvPr>
          <p:cNvSpPr txBox="1"/>
          <p:nvPr/>
        </p:nvSpPr>
        <p:spPr>
          <a:xfrm>
            <a:off x="13227050" y="3447393"/>
            <a:ext cx="8089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향후 계획</a:t>
            </a:r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AF47C679-2F1F-4F8D-91F4-4A95757C11BF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-5400000">
            <a:off x="7261225" y="7620000"/>
            <a:ext cx="8534400" cy="381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FBA4059-F097-437F-8513-E3163F9E6203}"/>
              </a:ext>
            </a:extLst>
          </p:cNvPr>
          <p:cNvSpPr txBox="1"/>
          <p:nvPr/>
        </p:nvSpPr>
        <p:spPr>
          <a:xfrm>
            <a:off x="12182474" y="4771105"/>
            <a:ext cx="10906125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50000"/>
              </a:lnSpc>
              <a:buAutoNum type="arabicParenR"/>
            </a:pP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데이터셋을 늘리고 다양한 기관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/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장비의 의료 데이터를 추가하여 모델 일반화 향상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3766E4-310E-4D44-B139-48989E1CBAD1}"/>
              </a:ext>
            </a:extLst>
          </p:cNvPr>
          <p:cNvSpPr txBox="1"/>
          <p:nvPr/>
        </p:nvSpPr>
        <p:spPr>
          <a:xfrm>
            <a:off x="12167317" y="7453973"/>
            <a:ext cx="9906000" cy="2047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2)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사용하지 않았던 다른 신경망을 학습</a:t>
            </a: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     </a:t>
            </a:r>
            <a:r>
              <a:rPr lang="ko-KR" altLang="en-US" sz="45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비교 하여 최적의 모델 탐색 지속</a:t>
            </a:r>
            <a:endParaRPr lang="en-US" altLang="ko-KR" sz="45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0105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0661650" y="6858000"/>
            <a:ext cx="306070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2000" b="1" i="0" u="none" strike="noStrike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시연</a:t>
            </a:r>
            <a:endParaRPr lang="ko-KR" sz="12000" b="1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7494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0398125" y="6858000"/>
            <a:ext cx="358775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2000" b="1" i="0" u="none" strike="noStrike" dirty="0">
                <a:solidFill>
                  <a:srgbClr val="000000"/>
                </a:solidFill>
                <a:latin typeface="Roboto ExtraBold" panose="02000000000000000000" pitchFamily="2" charset="0"/>
                <a:ea typeface="Roboto ExtraBold" panose="02000000000000000000" pitchFamily="2" charset="0"/>
              </a:rPr>
              <a:t>Q&amp;A</a:t>
            </a:r>
            <a:endParaRPr lang="ko-KR" sz="12000" b="1" i="0" u="none" strike="noStrike" dirty="0">
              <a:solidFill>
                <a:srgbClr val="000000"/>
              </a:solidFill>
              <a:latin typeface="Roboto ExtraBold" panose="02000000000000000000" pitchFamily="2" charset="0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6590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00" y="635000"/>
            <a:ext cx="23114000" cy="12446000"/>
          </a:xfrm>
          <a:prstGeom prst="rect">
            <a:avLst/>
          </a:prstGeom>
          <a:effectLst>
            <a:outerShdw dist="191477" dir="2700000">
              <a:srgbClr val="000000">
                <a:alpha val="15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8378825" y="6432550"/>
            <a:ext cx="7626350" cy="850900"/>
          </a:xfrm>
          <a:prstGeom prst="rect">
            <a:avLst/>
          </a:prstGeom>
        </p:spPr>
        <p:txBody>
          <a:bodyPr lIns="0" tIns="60959" rIns="0" bIns="60959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2000" b="1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감사합니다</a:t>
            </a:r>
            <a:r>
              <a:rPr lang="en-US" altLang="ko-KR" sz="12000" b="1" dirty="0">
                <a:solidFill>
                  <a:srgbClr val="000000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.</a:t>
            </a:r>
            <a:endParaRPr lang="ko-KR" sz="12000" b="1" i="0" u="none" strike="noStrike" dirty="0">
              <a:solidFill>
                <a:srgbClr val="000000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0380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789</Words>
  <Application>Microsoft Office PowerPoint</Application>
  <PresentationFormat>사용자 지정</PresentationFormat>
  <Paragraphs>175</Paragraphs>
  <Slides>18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Noto Sans KR ExtraBold</vt:lpstr>
      <vt:lpstr>맑은 고딕</vt:lpstr>
      <vt:lpstr>Roboto Condensed ExtraBold</vt:lpstr>
      <vt:lpstr>Arial</vt:lpstr>
      <vt:lpstr>HY견고딕</vt:lpstr>
      <vt:lpstr>Roboto ExtraBold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yj-603-12</cp:lastModifiedBy>
  <cp:revision>248</cp:revision>
  <dcterms:created xsi:type="dcterms:W3CDTF">2006-08-16T00:00:00Z</dcterms:created>
  <dcterms:modified xsi:type="dcterms:W3CDTF">2025-11-26T03:41:30Z</dcterms:modified>
</cp:coreProperties>
</file>